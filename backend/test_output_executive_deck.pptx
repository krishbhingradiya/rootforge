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ROOTFORGE ENTERPRISE 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Appointment Transformation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Solution Architecture &amp; Transformation Blueprint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10360152" cy="1325880"/>
          </a:xfrm>
          <a:prstGeom prst="roundRect">
            <a:avLst>
              <a:gd name="adj" fmla="val 5517"/>
            </a:avLst>
          </a:prstGeom>
          <a:solidFill>
            <a:srgbClr val="141A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WORKSPACE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88720" y="4681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Appointment Transformation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DOMAIN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49040" y="4681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Life Sciences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09360" y="4681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69680" y="4681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SYNTHESIS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Strategic 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synthesis of business imperative, solution direction, and target ROI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587752" cy="374904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25877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916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Situation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057400"/>
            <a:ext cx="225856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appointment scheduling time and improve patient access to doctors.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87752" cy="374904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63040"/>
            <a:ext cx="25877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6916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2057400"/>
            <a:ext cx="225856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currently rely on phone-based booking. Reception staff manually check doctor availability, enter patient information, and handle rescheduling and cancellations. This creates waiting time,...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87752" cy="374904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63040"/>
            <a:ext cx="25877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6916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057400"/>
            <a:ext cx="225856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AI-augmented appointment scheduling platform designed to integrate with the existing HealthBase v4 database. The solution empowers patients with self-service booking while providing...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1463040"/>
            <a:ext cx="2587752" cy="374904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463040"/>
            <a:ext cx="258775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988552" y="16916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88552" y="2057400"/>
            <a:ext cx="225856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scheduling work by approximately 60%, reduce appointment conflicts, shorten booking time, and improve appointment availability visibility.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394960"/>
            <a:ext cx="1072591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681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BENEFICIARIES &amp; STAKEHOLDERS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5687568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Doctors, Reception Staff, Hospital Administrators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&amp; Identified Operational Friction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of baseline friction, bottlenecks, and manual overhead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Constraints &amp; Diagnostic Findings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The current process is entirely manual, with reception staff handling all booking, rescheduling, and...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This reliance on manual availability checks and data entry into the HealthBase v4 MS SQL database leads to...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459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PAIN POINTS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73952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Factors &amp; 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3952" y="23317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Patient wait times during manual availability checks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Manual data entry errors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Conflicting or duplicate appointment bookings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Limited real-time visibility into doctor availability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30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CURRENT STATE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data &amp; manual coordination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5230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TRANSFORMATION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5486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modular architecture &amp; APIs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5230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TARGET STATE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0" y="5486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real-time &amp; traceable ecosystem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Objectives &amp; Measurable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measurable outcomes against current operational benchmarks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7259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STRATEGIC OBJECTIVES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Reduce manual appointment scheduling work by 60%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Improve patient access to doctors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Reduce appointment conflicts and duplicate bookings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154680"/>
          <a:ext cx="10725912" cy="288036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  <a:gridCol w="2862072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PERFORMANCE INDICATOR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STATE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BUSINESS 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Operational Velocity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Manual / Fragmented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Automated &amp; Integrated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Targets a 60% reduction in manual scheduling work, improved booking accuracy, and...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Process Traceability &amp; 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Periodic manual audits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Real-time audit log &amp; sign-off governance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High regulatory &amp; organizational confidence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Blueprint &amp; Value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layering from customer engagement to backend persistence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TRANSFORMATION BLUEPRINT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9385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Appointment Transformation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AI-augmented appointment scheduling platform designed to integrate with the existing HealthBase v4 database. The solution empowers patients with self-service booking while providing reception staff with...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PROPOSITION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343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 60% reduction in manual scheduling work, improved booking accuracy, and enhanced patient access to healthcare services through real-time availability visibility.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63040"/>
            <a:ext cx="10972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Layer 1: User Experience Channels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847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Client, Mobile Portal, Staff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395728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95728"/>
            <a:ext cx="109728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5054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Layer 2: API Gateway &amp; Security Ingress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7797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Termination, JWT Auth, Rate Limiting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328416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328416"/>
            <a:ext cx="109728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4381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Layer 3: Workflow &amp; Decision Engine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7124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Microservices, Business Rules, AI Triage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4261104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261104"/>
            <a:ext cx="10972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370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Layer 4: Enterprise Persistence Layer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46451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ACID Database, In-Memory Caching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5193792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5193792"/>
            <a:ext cx="109728" cy="8229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303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Layer 5: Core &amp; Legacy Integrations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09360" y="5577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Connectors, Webhooks, Message Bus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Enterprise Architecture Topology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distribution across compute tiers, gateways, and data stores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3716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Staff Web Portal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95728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95728"/>
            <a:ext cx="1371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32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INGRESS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253288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&amp; Ingress Gateway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328416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28416"/>
            <a:ext cx="1371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4655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MICROSERVICES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0" y="34655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Workflow Service   •   AI Triage &amp; Copilot Engine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261104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61104"/>
            <a:ext cx="1371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398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STORAGE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0" y="439826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Metadata Store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193792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193792"/>
            <a:ext cx="137160" cy="8229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330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0" y="533095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HealthBase v4 Integration Adapter   •   WhatsApp Notification Service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Business Process &amp; Automated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orchestration of operational handoffs, automation, and decision points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633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Patient Request Ingesti...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16331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Staff Web Portal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self-service appointment scheduling, rescheduling, or cancellation requests submitted directly by patients or reception staff via...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94990" y="16459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77870" y="18288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07787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77870" y="2377440"/>
            <a:ext cx="1633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Security &amp; Payload Validati...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77870" y="3017520"/>
            <a:ext cx="16331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&amp; Ingress Gateway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77870" y="356616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request payload schema, enforces rate limits, and verifies session authentication prior to processing domain logic.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8461" y="16459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1341" y="18288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241341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41341" y="2377440"/>
            <a:ext cx="1633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Availability Triage &amp; Slot Match...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41341" y="3017520"/>
            <a:ext cx="16331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&amp; Copilot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41341" y="356616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requested appointment slot against doctor schedule rules, department availability, and historical booking patterns to score...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1931" y="16459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4811" y="18288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404811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4811" y="2377440"/>
            <a:ext cx="1633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Straight-Through Automation Governa...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04811" y="3017520"/>
            <a:ext cx="16331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Workflow Service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4811" y="356616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AI triage confidence score and risk profile to determine whether the booking can proceed automatically or requires reception...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85402" y="16459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8282" y="18288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9568282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68282" y="2377440"/>
            <a:ext cx="1633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Copilot Exception Managem...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68282" y="3017520"/>
            <a:ext cx="16331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Staff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68282" y="3566160"/>
            <a:ext cx="163311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staff review complex, conflicting, or flagged appointment requests using AI copilot recommendations to adjust timing or assign...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ENGINE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Intelligent Automation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decision rules, model pipelines, and human-in-the-loop safeguards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3447288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 &amp; MODELS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Triage &amp; Synthesis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Natural language requirement extraction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Context-aware operational triage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Automated schedule matching &amp; optimization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Multi-channel real-time status intelligence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46304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463040"/>
            <a:ext cx="344728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69164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&amp; CONTEXT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53712" y="193852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Knowledge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246888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Direct SOP &amp; BRD document parsing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Relational database context alignment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Deterministic schema validation pass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Zero-hallucination domain guardrails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463040"/>
            <a:ext cx="3447288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4" y="169164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SAFEGUARDS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93024" y="193852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Controls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93024" y="246888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Configurable confidence score thresholds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Mandatory human sign-off on stage gates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Immutable audit logging of AI decisions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Automated fallback to operator review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Experience, Personas &amp; Journey Alignment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Persona-driven operational workflows and accessibility standards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 PERSONAS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Primary Operator (Business User)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Execute daily core workflow tasks efficiently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Supervisor / Executive (Management)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Monitor performance, governance approvals, and exceptions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64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INTERFACES &amp; ACCESSIBILITY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3952" y="20116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Active Deliveries &amp; Shipment Status Dashboard: High-level operational overview showcasing fleet utilization,...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Driver Routes &amp; Delivery Dispatch Console: Ergonomic split-view interface for dispatchers to manage...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Warehouse Hub &amp; Inventory Rules Manager: Supervisory controls for configuring warehouse fulfillment...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Transit Latency &amp; Fulfillment Analytics: Historical reporting on delivery cycle times, warehouse...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73952" y="43891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COMPLIANCE SPECIFICATION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73952" y="4663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Compliant, keyboard navigable, responsive high-contrast layouts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Relational Domain &amp; Enterprise REST APIs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schema and authenticated REST service contracts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5212080" cy="45720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2286000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BUSINESS PURPOSE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Doctor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Represents medical practitioners...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Patient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Represents patients who book appointment...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Appointment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Represents the core appointment...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463040"/>
          <a:ext cx="5212080" cy="45720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13716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VERB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ENDPOINT PATH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AUTHENTICATION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/api/v1/appointments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Bearer Token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/api/v1/doctors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Bearer Token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/api/v1/patients/:id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Bearer Token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PATCH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/api/v1/appointments/:id/cancel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Bearer Token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EXECUTION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Timeline &amp; Milestones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execution phases, duration estimates, and delivery governance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7259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TIMELINE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2-Week Sprints with Stage-Gate Sign-offs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600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PHASES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0" y="1600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INVESTMENT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869680" y="1847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$160,000 - $210,000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3464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306324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Architecture &amp; Security Foundation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703320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2 Weeks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40233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setup, JWT perimeter security, CI/CD pipeline, and architecture signoff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5394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Tasks: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56432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1024" y="283464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21024" y="306324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Relational Data Layer &amp; Ingestion APIs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21024" y="3703320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3 Weeks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21024" y="40233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implementation, HealthBase v4 integration adapter, and CRUD REST APIs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21024" y="5394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Tasks: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81344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83464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45936" y="306324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Core Workflows &amp; AI Intelligence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45936" y="3703320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3 Weeks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40233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triage services, process state transitions, and WhatsApp notification...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45936" y="5394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Tasks: 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06256" y="265176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0848" y="283464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70848" y="306324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Frontend UX Portals &amp; Wireframe Build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70848" y="3703320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2 Weeks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70848" y="40233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React SPA views, design tokens, and staff copilot dashboard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70848" y="5394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Tasks: 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BREAKDOWN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Sprints &amp; Delivery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delivery work packages derived from the Transformation Implementation Plan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4572000"/>
        </p:xfrm>
        <a:graphic>
          <a:graphicData uri="http://schemas.openxmlformats.org/drawingml/2006/table">
            <a:tbl>
              <a:tblPr/>
              <a:tblGrid>
                <a:gridCol w="3044952"/>
                <a:gridCol w="1828800"/>
                <a:gridCol w="1188720"/>
                <a:gridCol w="1645920"/>
                <a:gridCol w="914400"/>
                <a:gridCol w="914400"/>
                <a:gridCol w="118872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TASK TITLE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ASSIGNED 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Establish Security Perimeter &amp; Ingress...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1: Architecture...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Principal Architect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Implement Relational Database Schema &amp;...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2: Relational Da...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Database Engineer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1.5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TODO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Develop HealthBase v4 Integration...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2: Relational Da...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Integration Engineer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1.5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TODO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Build AI Triage &amp; Appointment Workflow...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3: Core Workflow...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Backend Engineer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TODO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Integrate WhatsApp Notification Service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3: Core Workflow...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Backend Engineer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TODO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Develop Patient &amp; Staff Web Portal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Phase 4: Frontend UX P...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Sprint 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Frontend Engineer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 Wks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TODO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Sign-offs &amp; Quality Gates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approvals status, compliance verification, and risk mitigation protocols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645920"/>
                <a:gridCol w="3108960"/>
                <a:gridCol w="2221992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LIFECYCLE STAGE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AUTHORIZED REVIEWER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DECISION TIMESTAMP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ARCHITECTURE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V14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APPROVED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Elena Rostova (Transformation Lead) (ADMIN)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20/09/2026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SOLUTION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V1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APPROVED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Marcus Vance (Principal Architect) (CONSULTANT)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20/09/2026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GENERAL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V1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</a:rPr>
                        <a:t>DRAFT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Marcus Vance (Principal Architect) (CONSULTANT)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20/09/2026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57600"/>
          <a:ext cx="10725912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2862072"/>
                <a:gridCol w="3200400"/>
                <a:gridCol w="3200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RISK FACTOR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POTENTIAL IMPACT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MITIGATION PROTOCOL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Establish Security Perimeter &amp; Ingr...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Potential timeline or technical constraint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Allocate dedicated senior technical oversight and staging...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Develop HealthBase v4 Integration...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Potential timeline or technical constraint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Allocate dedicated senior technical oversight and staging...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Build AI Triage &amp; Appointment Workf...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Potential timeline or technical constraint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Allocate dedicated senior technical oversight and staging...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REALIZATION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Readiness &amp; Immediate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4241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lifecycle progression, dynamic readiness assessment, and immediate priorities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WE NOW?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Stage: PLANNING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3774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Readiness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487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03580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145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Readiness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31455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/ 100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694176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8039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Readiness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38039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STATUS SUMMARY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4800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Progress: 14% completed  •  Sign-offs Active: 10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664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PRIORITIES &amp; NEXT STEPS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73952" y="196596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0574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29400" y="226771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Implementation Planning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301752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1089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29400" y="33101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Backlog Grooming &amp; Cloud Infrastructure Provisioning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73952" y="3913632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0050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29400" y="42062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Microservices Delivery &amp; Automated Ingress Security Integration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73952" y="4809744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9011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29400" y="51023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Acceptance Testing &amp; Staged Production Pilot Rollout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6236208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RootForge Enterprise Transformation  |  Patient Appointment Transformation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6309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— Executive Blueprint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92640" y="630936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of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2026-09-20T15:04:40Z</dcterms:created>
  <dcterms:modified xsi:type="dcterms:W3CDTF">2026-09-20T15:04:40Z</dcterms:modified>
</cp:coreProperties>
</file>