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914400" y="1645920"/>
            <a:ext cx="9144000" cy="365760"/>
          </a:xfrm>
          <a:prstGeom prst="rect">
            <a:avLst/>
          </a:prstGeom>
          <a:noFill/>
          <a:ln/>
        </p:spPr>
        <p:txBody>
          <a:bodyPr wrap="square" rtlCol="0" anchor="ctr"/>
          <a:lstStyle/>
          <a:p>
            <a:pPr indent="0" marL="0">
              <a:buNone/>
            </a:pPr>
            <a:r>
              <a:rPr lang="en-US" sz="1200" b="1" spc="200" kern="0" dirty="0">
                <a:solidFill>
                  <a:srgbClr val="F59E0B"/>
                </a:solidFill>
                <a:latin typeface="Arial" pitchFamily="34" charset="0"/>
                <a:ea typeface="Arial" pitchFamily="34" charset="-122"/>
                <a:cs typeface="Arial" pitchFamily="34" charset="-120"/>
              </a:rPr>
              <a:t>✦ ROOTFORGE ENTERPRISE TRANSFORMATION</a:t>
            </a:r>
            <a:endParaRPr lang="en-US" sz="1200" dirty="0"/>
          </a:p>
        </p:txBody>
      </p:sp>
      <p:sp>
        <p:nvSpPr>
          <p:cNvPr id="3" name="Text 1"/>
          <p:cNvSpPr/>
          <p:nvPr/>
        </p:nvSpPr>
        <p:spPr>
          <a:xfrm>
            <a:off x="914400" y="2103120"/>
            <a:ext cx="10058400" cy="109728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MediCare Appointment Transformation Platform</a:t>
            </a:r>
            <a:endParaRPr lang="en-US" sz="3000" dirty="0"/>
          </a:p>
        </p:txBody>
      </p:sp>
      <p:sp>
        <p:nvSpPr>
          <p:cNvPr id="4" name="Text 2"/>
          <p:cNvSpPr/>
          <p:nvPr/>
        </p:nvSpPr>
        <p:spPr>
          <a:xfrm>
            <a:off x="914400" y="3200400"/>
            <a:ext cx="9144000" cy="457200"/>
          </a:xfrm>
          <a:prstGeom prst="rect">
            <a:avLst/>
          </a:prstGeom>
          <a:noFill/>
          <a:ln/>
        </p:spPr>
        <p:txBody>
          <a:bodyPr wrap="square" rtlCol="0" anchor="ctr"/>
          <a:lstStyle/>
          <a:p>
            <a:pPr indent="0" marL="0">
              <a:buNone/>
            </a:pPr>
            <a:r>
              <a:rPr lang="en-US" sz="1600" dirty="0">
                <a:solidFill>
                  <a:srgbClr val="94A3B8"/>
                </a:solidFill>
                <a:latin typeface="Arial" pitchFamily="34" charset="0"/>
                <a:ea typeface="Arial" pitchFamily="34" charset="-122"/>
                <a:cs typeface="Arial" pitchFamily="34" charset="-120"/>
              </a:rPr>
              <a:t>Executive Solution Architecture &amp; Transformation Blueprint</a:t>
            </a:r>
            <a:endParaRPr lang="en-US" sz="1600" dirty="0"/>
          </a:p>
        </p:txBody>
      </p:sp>
      <p:sp>
        <p:nvSpPr>
          <p:cNvPr id="5" name="Shape 3"/>
          <p:cNvSpPr/>
          <p:nvPr/>
        </p:nvSpPr>
        <p:spPr>
          <a:xfrm>
            <a:off x="914400" y="4389120"/>
            <a:ext cx="10332720" cy="1280160"/>
          </a:xfrm>
          <a:prstGeom prst="roundRect">
            <a:avLst>
              <a:gd name="adj" fmla="val 7143"/>
            </a:avLst>
          </a:prstGeom>
          <a:solidFill>
            <a:srgbClr val="141A26"/>
          </a:solidFill>
          <a:ln w="12700">
            <a:solidFill>
              <a:srgbClr val="2A3449"/>
            </a:solidFill>
            <a:prstDash val="solid"/>
          </a:ln>
        </p:spPr>
      </p:sp>
      <p:sp>
        <p:nvSpPr>
          <p:cNvPr id="6" name="Text 4"/>
          <p:cNvSpPr/>
          <p:nvPr/>
        </p:nvSpPr>
        <p:spPr>
          <a:xfrm>
            <a:off x="1188720" y="4572000"/>
            <a:ext cx="2377440" cy="228600"/>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CLIENT WORKSPACE</a:t>
            </a:r>
            <a:endParaRPr lang="en-US" sz="900" dirty="0"/>
          </a:p>
        </p:txBody>
      </p:sp>
      <p:sp>
        <p:nvSpPr>
          <p:cNvPr id="7" name="Text 5"/>
          <p:cNvSpPr/>
          <p:nvPr/>
        </p:nvSpPr>
        <p:spPr>
          <a:xfrm>
            <a:off x="1188720" y="4846320"/>
            <a:ext cx="237744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Patient Appointment Transformation</a:t>
            </a:r>
            <a:endParaRPr lang="en-US" sz="1300" dirty="0"/>
          </a:p>
        </p:txBody>
      </p:sp>
      <p:sp>
        <p:nvSpPr>
          <p:cNvPr id="8" name="Text 6"/>
          <p:cNvSpPr/>
          <p:nvPr/>
        </p:nvSpPr>
        <p:spPr>
          <a:xfrm>
            <a:off x="3749040" y="4572000"/>
            <a:ext cx="2377440" cy="228600"/>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INDUSTRY DOMAIN</a:t>
            </a:r>
            <a:endParaRPr lang="en-US" sz="900" dirty="0"/>
          </a:p>
        </p:txBody>
      </p:sp>
      <p:sp>
        <p:nvSpPr>
          <p:cNvPr id="9" name="Text 7"/>
          <p:cNvSpPr/>
          <p:nvPr/>
        </p:nvSpPr>
        <p:spPr>
          <a:xfrm>
            <a:off x="3749040" y="4846320"/>
            <a:ext cx="237744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Healthcare &amp; Life Sciences</a:t>
            </a:r>
            <a:endParaRPr lang="en-US" sz="1300" dirty="0"/>
          </a:p>
        </p:txBody>
      </p:sp>
      <p:sp>
        <p:nvSpPr>
          <p:cNvPr id="10" name="Text 8"/>
          <p:cNvSpPr/>
          <p:nvPr/>
        </p:nvSpPr>
        <p:spPr>
          <a:xfrm>
            <a:off x="6309360" y="4572000"/>
            <a:ext cx="2377440" cy="228600"/>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DOCUMENT VERSION</a:t>
            </a:r>
            <a:endParaRPr lang="en-US" sz="900" dirty="0"/>
          </a:p>
        </p:txBody>
      </p:sp>
      <p:sp>
        <p:nvSpPr>
          <p:cNvPr id="11" name="Text 9"/>
          <p:cNvSpPr/>
          <p:nvPr/>
        </p:nvSpPr>
        <p:spPr>
          <a:xfrm>
            <a:off x="6309360" y="4846320"/>
            <a:ext cx="237744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V59</a:t>
            </a:r>
            <a:endParaRPr lang="en-US" sz="1300" dirty="0"/>
          </a:p>
        </p:txBody>
      </p:sp>
      <p:sp>
        <p:nvSpPr>
          <p:cNvPr id="12" name="Text 10"/>
          <p:cNvSpPr/>
          <p:nvPr/>
        </p:nvSpPr>
        <p:spPr>
          <a:xfrm>
            <a:off x="8869680" y="4572000"/>
            <a:ext cx="2377440" cy="228600"/>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GENERATED DATE</a:t>
            </a:r>
            <a:endParaRPr lang="en-US" sz="900" dirty="0"/>
          </a:p>
        </p:txBody>
      </p:sp>
      <p:sp>
        <p:nvSpPr>
          <p:cNvPr id="13" name="Text 11"/>
          <p:cNvSpPr/>
          <p:nvPr/>
        </p:nvSpPr>
        <p:spPr>
          <a:xfrm>
            <a:off x="8869680" y="4846320"/>
            <a:ext cx="237744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20/09/2026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CONTEXT &amp; SYNTHESIS</a:t>
            </a:r>
            <a:endParaRPr lang="en-US" sz="1000" dirty="0"/>
          </a:p>
        </p:txBody>
      </p:sp>
      <p:sp>
        <p:nvSpPr>
          <p:cNvPr id="3" name="Text 1"/>
          <p:cNvSpPr/>
          <p:nvPr/>
        </p:nvSpPr>
        <p:spPr>
          <a:xfrm>
            <a:off x="731520" y="594360"/>
            <a:ext cx="91440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Executive Summary &amp; Strategic Vision</a:t>
            </a:r>
            <a:endParaRPr lang="en-US" sz="2000" dirty="0"/>
          </a:p>
        </p:txBody>
      </p:sp>
      <p:sp>
        <p:nvSpPr>
          <p:cNvPr id="4" name="Shape 2"/>
          <p:cNvSpPr/>
          <p:nvPr/>
        </p:nvSpPr>
        <p:spPr>
          <a:xfrm>
            <a:off x="731520" y="1051560"/>
            <a:ext cx="10698480" cy="0"/>
          </a:xfrm>
          <a:prstGeom prst="line">
            <a:avLst/>
          </a:prstGeom>
          <a:noFill/>
          <a:ln w="12700">
            <a:solidFill>
              <a:srgbClr val="2A3449"/>
            </a:solidFill>
            <a:prstDash val="solid"/>
          </a:ln>
        </p:spPr>
      </p:sp>
      <p:sp>
        <p:nvSpPr>
          <p:cNvPr id="5" name="Shape 3"/>
          <p:cNvSpPr/>
          <p:nvPr/>
        </p:nvSpPr>
        <p:spPr>
          <a:xfrm>
            <a:off x="731520" y="1371600"/>
            <a:ext cx="2560320" cy="4572000"/>
          </a:xfrm>
          <a:prstGeom prst="roundRect">
            <a:avLst>
              <a:gd name="adj" fmla="val 3571"/>
            </a:avLst>
          </a:prstGeom>
          <a:solidFill>
            <a:srgbClr val="1E2433"/>
          </a:solidFill>
          <a:ln w="12700">
            <a:solidFill>
              <a:srgbClr val="2A3449"/>
            </a:solidFill>
            <a:prstDash val="solid"/>
          </a:ln>
        </p:spPr>
      </p:sp>
      <p:sp>
        <p:nvSpPr>
          <p:cNvPr id="6" name="Shape 4"/>
          <p:cNvSpPr/>
          <p:nvPr/>
        </p:nvSpPr>
        <p:spPr>
          <a:xfrm>
            <a:off x="731520" y="1371600"/>
            <a:ext cx="2560320" cy="91440"/>
          </a:xfrm>
          <a:prstGeom prst="rect">
            <a:avLst/>
          </a:prstGeom>
          <a:solidFill>
            <a:srgbClr val="2563EB"/>
          </a:solidFill>
          <a:ln/>
        </p:spPr>
      </p:sp>
      <p:sp>
        <p:nvSpPr>
          <p:cNvPr id="7" name="Text 5"/>
          <p:cNvSpPr/>
          <p:nvPr/>
        </p:nvSpPr>
        <p:spPr>
          <a:xfrm>
            <a:off x="914400" y="1645920"/>
            <a:ext cx="21945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Business Situation</a:t>
            </a:r>
            <a:endParaRPr lang="en-US" sz="1400" dirty="0"/>
          </a:p>
        </p:txBody>
      </p:sp>
      <p:sp>
        <p:nvSpPr>
          <p:cNvPr id="8" name="Text 6"/>
          <p:cNvSpPr/>
          <p:nvPr/>
        </p:nvSpPr>
        <p:spPr>
          <a:xfrm>
            <a:off x="914400" y="2103120"/>
            <a:ext cx="2194560" cy="3566160"/>
          </a:xfrm>
          <a:prstGeom prst="rect">
            <a:avLst/>
          </a:prstGeom>
          <a:noFill/>
          <a:ln/>
        </p:spPr>
        <p:txBody>
          <a:bodyPr wrap="square" rtlCol="0" anchor="ctr"/>
          <a:lstStyle/>
          <a:p>
            <a:pPr indent="0" marL="0">
              <a:lnSpc>
                <a:spcPts val="1600"/>
              </a:lnSpc>
              <a:buNone/>
            </a:pPr>
            <a:r>
              <a:rPr lang="en-US" sz="1150" dirty="0">
                <a:solidFill>
                  <a:srgbClr val="94A3B8"/>
                </a:solidFill>
                <a:latin typeface="Arial" pitchFamily="34" charset="0"/>
                <a:ea typeface="Arial" pitchFamily="34" charset="-122"/>
                <a:cs typeface="Arial" pitchFamily="34" charset="-120"/>
              </a:rPr>
              <a:t>Reduce appointment scheduling time and improve patient access to doctors.</a:t>
            </a:r>
            <a:endParaRPr lang="en-US" sz="1150" dirty="0"/>
          </a:p>
        </p:txBody>
      </p:sp>
      <p:sp>
        <p:nvSpPr>
          <p:cNvPr id="9" name="Shape 7"/>
          <p:cNvSpPr/>
          <p:nvPr/>
        </p:nvSpPr>
        <p:spPr>
          <a:xfrm>
            <a:off x="3429000" y="1371600"/>
            <a:ext cx="2560320" cy="4572000"/>
          </a:xfrm>
          <a:prstGeom prst="roundRect">
            <a:avLst>
              <a:gd name="adj" fmla="val 3571"/>
            </a:avLst>
          </a:prstGeom>
          <a:solidFill>
            <a:srgbClr val="1E2433"/>
          </a:solidFill>
          <a:ln w="12700">
            <a:solidFill>
              <a:srgbClr val="2A3449"/>
            </a:solidFill>
            <a:prstDash val="solid"/>
          </a:ln>
        </p:spPr>
      </p:sp>
      <p:sp>
        <p:nvSpPr>
          <p:cNvPr id="10" name="Shape 8"/>
          <p:cNvSpPr/>
          <p:nvPr/>
        </p:nvSpPr>
        <p:spPr>
          <a:xfrm>
            <a:off x="3429000" y="1371600"/>
            <a:ext cx="2560320" cy="91440"/>
          </a:xfrm>
          <a:prstGeom prst="rect">
            <a:avLst/>
          </a:prstGeom>
          <a:solidFill>
            <a:srgbClr val="DC2626"/>
          </a:solidFill>
          <a:ln/>
        </p:spPr>
      </p:sp>
      <p:sp>
        <p:nvSpPr>
          <p:cNvPr id="11" name="Text 9"/>
          <p:cNvSpPr/>
          <p:nvPr/>
        </p:nvSpPr>
        <p:spPr>
          <a:xfrm>
            <a:off x="3611880" y="1645920"/>
            <a:ext cx="21945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Core Challenge</a:t>
            </a:r>
            <a:endParaRPr lang="en-US" sz="1400" dirty="0"/>
          </a:p>
        </p:txBody>
      </p:sp>
      <p:sp>
        <p:nvSpPr>
          <p:cNvPr id="12" name="Text 10"/>
          <p:cNvSpPr/>
          <p:nvPr/>
        </p:nvSpPr>
        <p:spPr>
          <a:xfrm>
            <a:off x="3611880" y="2103120"/>
            <a:ext cx="2194560" cy="3566160"/>
          </a:xfrm>
          <a:prstGeom prst="rect">
            <a:avLst/>
          </a:prstGeom>
          <a:noFill/>
          <a:ln/>
        </p:spPr>
        <p:txBody>
          <a:bodyPr wrap="square" rtlCol="0" anchor="ctr"/>
          <a:lstStyle/>
          <a:p>
            <a:pPr indent="0" marL="0">
              <a:lnSpc>
                <a:spcPts val="1600"/>
              </a:lnSpc>
              <a:buNone/>
            </a:pPr>
            <a:r>
              <a:rPr lang="en-US" sz="1150" dirty="0">
                <a:solidFill>
                  <a:srgbClr val="94A3B8"/>
                </a:solidFill>
                <a:latin typeface="Arial" pitchFamily="34" charset="0"/>
                <a:ea typeface="Arial" pitchFamily="34" charset="-122"/>
                <a:cs typeface="Arial" pitchFamily="34" charset="-120"/>
              </a:rPr>
              <a:t>Patients currently rely on phone-based booking. Reception staff manually check doctor availability, enter patient information, and handle rescheduling and cancellations. This creates waiting time, manual effort, duplicate or conflicting bookings, and scheduling errors.</a:t>
            </a:r>
            <a:endParaRPr lang="en-US" sz="1150" dirty="0"/>
          </a:p>
        </p:txBody>
      </p:sp>
      <p:sp>
        <p:nvSpPr>
          <p:cNvPr id="13" name="Shape 11"/>
          <p:cNvSpPr/>
          <p:nvPr/>
        </p:nvSpPr>
        <p:spPr>
          <a:xfrm>
            <a:off x="6126480" y="1371600"/>
            <a:ext cx="2560320" cy="4572000"/>
          </a:xfrm>
          <a:prstGeom prst="roundRect">
            <a:avLst>
              <a:gd name="adj" fmla="val 3571"/>
            </a:avLst>
          </a:prstGeom>
          <a:solidFill>
            <a:srgbClr val="1E2433"/>
          </a:solidFill>
          <a:ln w="12700">
            <a:solidFill>
              <a:srgbClr val="2A3449"/>
            </a:solidFill>
            <a:prstDash val="solid"/>
          </a:ln>
        </p:spPr>
      </p:sp>
      <p:sp>
        <p:nvSpPr>
          <p:cNvPr id="14" name="Shape 12"/>
          <p:cNvSpPr/>
          <p:nvPr/>
        </p:nvSpPr>
        <p:spPr>
          <a:xfrm>
            <a:off x="6126480" y="1371600"/>
            <a:ext cx="2560320" cy="91440"/>
          </a:xfrm>
          <a:prstGeom prst="rect">
            <a:avLst/>
          </a:prstGeom>
          <a:solidFill>
            <a:srgbClr val="059669"/>
          </a:solidFill>
          <a:ln/>
        </p:spPr>
      </p:sp>
      <p:sp>
        <p:nvSpPr>
          <p:cNvPr id="15" name="Text 13"/>
          <p:cNvSpPr/>
          <p:nvPr/>
        </p:nvSpPr>
        <p:spPr>
          <a:xfrm>
            <a:off x="6309360" y="1645920"/>
            <a:ext cx="21945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Proposed Solution</a:t>
            </a:r>
            <a:endParaRPr lang="en-US" sz="1400" dirty="0"/>
          </a:p>
        </p:txBody>
      </p:sp>
      <p:sp>
        <p:nvSpPr>
          <p:cNvPr id="16" name="Text 14"/>
          <p:cNvSpPr/>
          <p:nvPr/>
        </p:nvSpPr>
        <p:spPr>
          <a:xfrm>
            <a:off x="6309360" y="2103120"/>
            <a:ext cx="2194560" cy="3566160"/>
          </a:xfrm>
          <a:prstGeom prst="rect">
            <a:avLst/>
          </a:prstGeom>
          <a:noFill/>
          <a:ln/>
        </p:spPr>
        <p:txBody>
          <a:bodyPr wrap="square" rtlCol="0" anchor="ctr"/>
          <a:lstStyle/>
          <a:p>
            <a:pPr indent="0" marL="0">
              <a:lnSpc>
                <a:spcPts val="1600"/>
              </a:lnSpc>
              <a:buNone/>
            </a:pPr>
            <a:r>
              <a:rPr lang="en-US" sz="1150" dirty="0">
                <a:solidFill>
                  <a:srgbClr val="94A3B8"/>
                </a:solidFill>
                <a:latin typeface="Arial" pitchFamily="34" charset="0"/>
                <a:ea typeface="Arial" pitchFamily="34" charset="-122"/>
                <a:cs typeface="Arial" pitchFamily="34" charset="-120"/>
              </a:rPr>
              <a:t>A modern, AI-augmented appointment scheduling platform designed to integrate with the existing HealthBase v4 database. The solution empowers patients with self-service booking while providing reception staff with intelligent copilots to manage exceptions and improve scheduling accuracy.</a:t>
            </a:r>
            <a:endParaRPr lang="en-US" sz="1150" dirty="0"/>
          </a:p>
        </p:txBody>
      </p:sp>
      <p:sp>
        <p:nvSpPr>
          <p:cNvPr id="17" name="Shape 15"/>
          <p:cNvSpPr/>
          <p:nvPr/>
        </p:nvSpPr>
        <p:spPr>
          <a:xfrm>
            <a:off x="8823960" y="1371600"/>
            <a:ext cx="2560320" cy="4572000"/>
          </a:xfrm>
          <a:prstGeom prst="roundRect">
            <a:avLst>
              <a:gd name="adj" fmla="val 3571"/>
            </a:avLst>
          </a:prstGeom>
          <a:solidFill>
            <a:srgbClr val="1E2433"/>
          </a:solidFill>
          <a:ln w="12700">
            <a:solidFill>
              <a:srgbClr val="2A3449"/>
            </a:solidFill>
            <a:prstDash val="solid"/>
          </a:ln>
        </p:spPr>
      </p:sp>
      <p:sp>
        <p:nvSpPr>
          <p:cNvPr id="18" name="Shape 16"/>
          <p:cNvSpPr/>
          <p:nvPr/>
        </p:nvSpPr>
        <p:spPr>
          <a:xfrm>
            <a:off x="8823960" y="1371600"/>
            <a:ext cx="2560320" cy="91440"/>
          </a:xfrm>
          <a:prstGeom prst="rect">
            <a:avLst/>
          </a:prstGeom>
          <a:solidFill>
            <a:srgbClr val="D97706"/>
          </a:solidFill>
          <a:ln/>
        </p:spPr>
      </p:sp>
      <p:sp>
        <p:nvSpPr>
          <p:cNvPr id="19" name="Text 17"/>
          <p:cNvSpPr/>
          <p:nvPr/>
        </p:nvSpPr>
        <p:spPr>
          <a:xfrm>
            <a:off x="9006840" y="1645920"/>
            <a:ext cx="219456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Expected Value</a:t>
            </a:r>
            <a:endParaRPr lang="en-US" sz="1400" dirty="0"/>
          </a:p>
        </p:txBody>
      </p:sp>
      <p:sp>
        <p:nvSpPr>
          <p:cNvPr id="20" name="Text 18"/>
          <p:cNvSpPr/>
          <p:nvPr/>
        </p:nvSpPr>
        <p:spPr>
          <a:xfrm>
            <a:off x="9006840" y="2103120"/>
            <a:ext cx="2194560" cy="3566160"/>
          </a:xfrm>
          <a:prstGeom prst="rect">
            <a:avLst/>
          </a:prstGeom>
          <a:noFill/>
          <a:ln/>
        </p:spPr>
        <p:txBody>
          <a:bodyPr wrap="square" rtlCol="0" anchor="ctr"/>
          <a:lstStyle/>
          <a:p>
            <a:pPr indent="0" marL="0">
              <a:lnSpc>
                <a:spcPts val="1600"/>
              </a:lnSpc>
              <a:buNone/>
            </a:pPr>
            <a:r>
              <a:rPr lang="en-US" sz="1150" dirty="0">
                <a:solidFill>
                  <a:srgbClr val="94A3B8"/>
                </a:solidFill>
                <a:latin typeface="Arial" pitchFamily="34" charset="0"/>
                <a:ea typeface="Arial" pitchFamily="34" charset="-122"/>
                <a:cs typeface="Arial" pitchFamily="34" charset="-120"/>
              </a:rPr>
              <a:t>Reduce manual scheduling work by approximately 60%, reduce appointment conflicts, shorten booking time, and improve appointment availability visibility.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DIAGNOSTIC</a:t>
            </a:r>
            <a:endParaRPr lang="en-US" sz="1000" dirty="0"/>
          </a:p>
        </p:txBody>
      </p:sp>
      <p:sp>
        <p:nvSpPr>
          <p:cNvPr id="3" name="Text 1"/>
          <p:cNvSpPr/>
          <p:nvPr/>
        </p:nvSpPr>
        <p:spPr>
          <a:xfrm>
            <a:off x="731520" y="594360"/>
            <a:ext cx="91440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Current State &amp; Identified Operational Friction</a:t>
            </a:r>
            <a:endParaRPr lang="en-US" sz="2000" dirty="0"/>
          </a:p>
        </p:txBody>
      </p:sp>
      <p:sp>
        <p:nvSpPr>
          <p:cNvPr id="4" name="Shape 2"/>
          <p:cNvSpPr/>
          <p:nvPr/>
        </p:nvSpPr>
        <p:spPr>
          <a:xfrm>
            <a:off x="731520" y="1051560"/>
            <a:ext cx="10698480" cy="0"/>
          </a:xfrm>
          <a:prstGeom prst="line">
            <a:avLst/>
          </a:prstGeom>
          <a:noFill/>
          <a:ln w="12700">
            <a:solidFill>
              <a:srgbClr val="2A3449"/>
            </a:solidFill>
            <a:prstDash val="solid"/>
          </a:ln>
        </p:spPr>
      </p:sp>
      <p:sp>
        <p:nvSpPr>
          <p:cNvPr id="5" name="Shape 3"/>
          <p:cNvSpPr/>
          <p:nvPr/>
        </p:nvSpPr>
        <p:spPr>
          <a:xfrm>
            <a:off x="731520" y="1371600"/>
            <a:ext cx="5120640" cy="4572000"/>
          </a:xfrm>
          <a:prstGeom prst="roundRect">
            <a:avLst>
              <a:gd name="adj" fmla="val 2000"/>
            </a:avLst>
          </a:prstGeom>
          <a:solidFill>
            <a:srgbClr val="1E2433"/>
          </a:solidFill>
          <a:ln w="12700">
            <a:solidFill>
              <a:srgbClr val="2A3449"/>
            </a:solidFill>
            <a:prstDash val="solid"/>
          </a:ln>
        </p:spPr>
      </p:sp>
      <p:sp>
        <p:nvSpPr>
          <p:cNvPr id="6" name="Text 4"/>
          <p:cNvSpPr/>
          <p:nvPr/>
        </p:nvSpPr>
        <p:spPr>
          <a:xfrm>
            <a:off x="1005840" y="1645920"/>
            <a:ext cx="45720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Current State Assessment</a:t>
            </a:r>
            <a:endParaRPr lang="en-US" sz="1400" dirty="0"/>
          </a:p>
        </p:txBody>
      </p:sp>
      <p:sp>
        <p:nvSpPr>
          <p:cNvPr id="7" name="Text 5"/>
          <p:cNvSpPr/>
          <p:nvPr/>
        </p:nvSpPr>
        <p:spPr>
          <a:xfrm>
            <a:off x="1005840" y="2103120"/>
            <a:ext cx="4572000" cy="347472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The current process is entirely manual, with reception staff handling all booking, rescheduling, and cancellation requests via telephone. This reliance on manual availability checks and data entry into the HealthBase v4 MS SQL database leads to frequent scheduling errors, duplicate bookings, and extended patient wait times.</a:t>
            </a:r>
            <a:endParaRPr lang="en-US" sz="1200" dirty="0"/>
          </a:p>
        </p:txBody>
      </p:sp>
      <p:sp>
        <p:nvSpPr>
          <p:cNvPr id="8" name="Shape 6"/>
          <p:cNvSpPr/>
          <p:nvPr/>
        </p:nvSpPr>
        <p:spPr>
          <a:xfrm>
            <a:off x="6309360" y="1371600"/>
            <a:ext cx="5120640" cy="4572000"/>
          </a:xfrm>
          <a:prstGeom prst="roundRect">
            <a:avLst>
              <a:gd name="adj" fmla="val 2000"/>
            </a:avLst>
          </a:prstGeom>
          <a:solidFill>
            <a:srgbClr val="1E2433"/>
          </a:solidFill>
          <a:ln w="12700">
            <a:solidFill>
              <a:srgbClr val="2A3449"/>
            </a:solidFill>
            <a:prstDash val="solid"/>
          </a:ln>
        </p:spPr>
      </p:sp>
      <p:sp>
        <p:nvSpPr>
          <p:cNvPr id="9" name="Text 7"/>
          <p:cNvSpPr/>
          <p:nvPr/>
        </p:nvSpPr>
        <p:spPr>
          <a:xfrm>
            <a:off x="6583680" y="1645920"/>
            <a:ext cx="4572000" cy="36576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Critical Operational Pain Points</a:t>
            </a:r>
            <a:endParaRPr lang="en-US" sz="1400" dirty="0"/>
          </a:p>
        </p:txBody>
      </p:sp>
      <p:sp>
        <p:nvSpPr>
          <p:cNvPr id="10" name="Text 8"/>
          <p:cNvSpPr/>
          <p:nvPr/>
        </p:nvSpPr>
        <p:spPr>
          <a:xfrm>
            <a:off x="6583680" y="2103120"/>
            <a:ext cx="4572000" cy="3474720"/>
          </a:xfrm>
          <a:prstGeom prst="rect">
            <a:avLst/>
          </a:prstGeom>
          <a:noFill/>
          <a:ln/>
        </p:spPr>
        <p:txBody>
          <a:bodyPr wrap="square" rtlCol="0" anchor="ctr"/>
          <a:lstStyle/>
          <a:p>
            <a:pPr marL="342900" indent="-342900">
              <a:lnSpc>
                <a:spcPts val="2200"/>
              </a:lnSpc>
              <a:buSzPct val="100000"/>
              <a:buChar char="•"/>
            </a:pPr>
            <a:r>
              <a:rPr lang="en-US" sz="1150" dirty="0">
                <a:solidFill>
                  <a:srgbClr val="94A3B8"/>
                </a:solidFill>
              </a:rPr>
              <a:t>Patient wait times during manual availability checks</a:t>
            </a:r>
            <a:endParaRPr lang="en-US" sz="1150" dirty="0"/>
          </a:p>
          <a:p>
            <a:pPr marL="342900" indent="-342900">
              <a:lnSpc>
                <a:spcPts val="2200"/>
              </a:lnSpc>
              <a:buSzPct val="100000"/>
              <a:buChar char="•"/>
            </a:pPr>
            <a:r>
              <a:rPr lang="en-US" sz="1150" dirty="0">
                <a:solidFill>
                  <a:srgbClr val="94A3B8"/>
                </a:solidFill>
              </a:rPr>
              <a:t>Manual data entry errors</a:t>
            </a:r>
            <a:endParaRPr lang="en-US" sz="1150" dirty="0"/>
          </a:p>
          <a:p>
            <a:pPr marL="342900" indent="-342900">
              <a:lnSpc>
                <a:spcPts val="2200"/>
              </a:lnSpc>
              <a:buSzPct val="100000"/>
              <a:buChar char="•"/>
            </a:pPr>
            <a:r>
              <a:rPr lang="en-US" sz="1150" dirty="0">
                <a:solidFill>
                  <a:srgbClr val="94A3B8"/>
                </a:solidFill>
              </a:rPr>
              <a:t>Conflicting or duplicate appointment bookings</a:t>
            </a:r>
            <a:endParaRPr lang="en-US" sz="1150" dirty="0"/>
          </a:p>
          <a:p>
            <a:pPr marL="342900" indent="-342900">
              <a:lnSpc>
                <a:spcPts val="2200"/>
              </a:lnSpc>
              <a:buSzPct val="100000"/>
              <a:buChar char="•"/>
            </a:pPr>
            <a:r>
              <a:rPr lang="en-US" sz="1150" dirty="0">
                <a:solidFill>
                  <a:srgbClr val="94A3B8"/>
                </a:solidFill>
              </a:rPr>
              <a:t>Limited real-time visibility into doctor availability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VALUE ARCHITECTURE</a:t>
            </a:r>
            <a:endParaRPr lang="en-US" sz="1000" dirty="0"/>
          </a:p>
        </p:txBody>
      </p:sp>
      <p:sp>
        <p:nvSpPr>
          <p:cNvPr id="3" name="Text 1"/>
          <p:cNvSpPr/>
          <p:nvPr/>
        </p:nvSpPr>
        <p:spPr>
          <a:xfrm>
            <a:off x="731520" y="594360"/>
            <a:ext cx="91440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Strategic Objectives &amp; Measurable KPIs</a:t>
            </a:r>
            <a:endParaRPr lang="en-US" sz="2000" dirty="0"/>
          </a:p>
        </p:txBody>
      </p:sp>
      <p:sp>
        <p:nvSpPr>
          <p:cNvPr id="4" name="Shape 2"/>
          <p:cNvSpPr/>
          <p:nvPr/>
        </p:nvSpPr>
        <p:spPr>
          <a:xfrm>
            <a:off x="731520" y="1051560"/>
            <a:ext cx="10698480" cy="0"/>
          </a:xfrm>
          <a:prstGeom prst="line">
            <a:avLst/>
          </a:prstGeom>
          <a:noFill/>
          <a:ln w="12700">
            <a:solidFill>
              <a:srgbClr val="2A3449"/>
            </a:solidFill>
            <a:prstDash val="solid"/>
          </a:ln>
        </p:spPr>
      </p:sp>
      <p:sp>
        <p:nvSpPr>
          <p:cNvPr id="5" name="Shape 3"/>
          <p:cNvSpPr/>
          <p:nvPr/>
        </p:nvSpPr>
        <p:spPr>
          <a:xfrm>
            <a:off x="731520" y="1371600"/>
            <a:ext cx="10698480" cy="1645920"/>
          </a:xfrm>
          <a:prstGeom prst="roundRect">
            <a:avLst>
              <a:gd name="adj" fmla="val 5556"/>
            </a:avLst>
          </a:prstGeom>
          <a:solidFill>
            <a:srgbClr val="1E2433"/>
          </a:solidFill>
          <a:ln w="12700">
            <a:solidFill>
              <a:srgbClr val="2A3449"/>
            </a:solidFill>
            <a:prstDash val="solid"/>
          </a:ln>
        </p:spPr>
      </p:sp>
      <p:sp>
        <p:nvSpPr>
          <p:cNvPr id="6" name="Text 4"/>
          <p:cNvSpPr/>
          <p:nvPr/>
        </p:nvSpPr>
        <p:spPr>
          <a:xfrm>
            <a:off x="1005840" y="1554480"/>
            <a:ext cx="10058400" cy="274320"/>
          </a:xfrm>
          <a:prstGeom prst="rect">
            <a:avLst/>
          </a:prstGeom>
          <a:noFill/>
          <a:ln/>
        </p:spPr>
        <p:txBody>
          <a:bodyPr wrap="square" rtlCol="0" anchor="ctr"/>
          <a:lstStyle/>
          <a:p>
            <a:pPr indent="0" marL="0">
              <a:buNone/>
            </a:pPr>
            <a:r>
              <a:rPr lang="en-US" sz="1000" b="1" spc="100" kern="0" dirty="0">
                <a:solidFill>
                  <a:srgbClr val="D97706"/>
                </a:solidFill>
                <a:latin typeface="Arial" pitchFamily="34" charset="0"/>
                <a:ea typeface="Arial" pitchFamily="34" charset="-122"/>
                <a:cs typeface="Arial" pitchFamily="34" charset="-120"/>
              </a:rPr>
              <a:t>CORE STRATEGIC OBJECTIVES</a:t>
            </a:r>
            <a:endParaRPr lang="en-US" sz="1000" dirty="0"/>
          </a:p>
        </p:txBody>
      </p:sp>
      <p:sp>
        <p:nvSpPr>
          <p:cNvPr id="7" name="Text 5"/>
          <p:cNvSpPr/>
          <p:nvPr/>
        </p:nvSpPr>
        <p:spPr>
          <a:xfrm>
            <a:off x="1005840" y="1874520"/>
            <a:ext cx="10058400" cy="1005840"/>
          </a:xfrm>
          <a:prstGeom prst="rect">
            <a:avLst/>
          </a:prstGeom>
          <a:noFill/>
          <a:ln/>
        </p:spPr>
        <p:txBody>
          <a:bodyPr wrap="square" rtlCol="0" anchor="ctr"/>
          <a:lstStyle/>
          <a:p>
            <a:pPr marL="342900" indent="-342900">
              <a:lnSpc>
                <a:spcPts val="1800"/>
              </a:lnSpc>
              <a:buSzPct val="100000"/>
              <a:buChar char="•"/>
            </a:pPr>
            <a:r>
              <a:rPr lang="en-US" sz="1150" dirty="0">
                <a:solidFill>
                  <a:srgbClr val="FFFFFF"/>
                </a:solidFill>
              </a:rPr>
              <a:t>Reduce manual appointment scheduling work by 60%</a:t>
            </a:r>
            <a:endParaRPr lang="en-US" sz="1150" dirty="0"/>
          </a:p>
          <a:p>
            <a:pPr marL="342900" indent="-342900">
              <a:lnSpc>
                <a:spcPts val="1800"/>
              </a:lnSpc>
              <a:buSzPct val="100000"/>
              <a:buChar char="•"/>
            </a:pPr>
            <a:r>
              <a:rPr lang="en-US" sz="1150" dirty="0">
                <a:solidFill>
                  <a:srgbClr val="FFFFFF"/>
                </a:solidFill>
              </a:rPr>
              <a:t>Improve patient access to doctors</a:t>
            </a:r>
            <a:endParaRPr lang="en-US" sz="1150" dirty="0"/>
          </a:p>
          <a:p>
            <a:pPr marL="342900" indent="-342900">
              <a:lnSpc>
                <a:spcPts val="1800"/>
              </a:lnSpc>
              <a:buSzPct val="100000"/>
              <a:buChar char="•"/>
            </a:pPr>
            <a:r>
              <a:rPr lang="en-US" sz="1150" dirty="0">
                <a:solidFill>
                  <a:srgbClr val="FFFFFF"/>
                </a:solidFill>
              </a:rPr>
              <a:t>Reduce appointment conflicts and duplicate bookings</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3291840"/>
          <a:ext cx="10698480" cy="2560320"/>
        </p:xfrm>
        <a:graphic>
          <a:graphicData uri="http://schemas.openxmlformats.org/drawingml/2006/table">
            <a:tbl>
              <a:tblPr/>
              <a:tblGrid>
                <a:gridCol w="2560320"/>
                <a:gridCol w="2560320"/>
                <a:gridCol w="2560320"/>
                <a:gridCol w="3017520"/>
              </a:tblGrid>
              <a:tr h="853440">
                <a:tc>
                  <a:txBody>
                    <a:bodyPr/>
                    <a:lstStyle/>
                    <a:p>
                      <a:pPr indent="0" marL="0">
                        <a:buNone/>
                      </a:pPr>
                      <a:r>
                        <a:rPr lang="en-US" sz="1000" b="1" dirty="0">
                          <a:solidFill>
                            <a:srgbClr val="FFFFFF"/>
                          </a:solidFill>
                        </a:rPr>
                        <a:t>METRIC</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CURRENT STATE</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TARGET STATE</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BUSINESS IMPACT</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r>
              <a:tr h="853440">
                <a:tc>
                  <a:txBody>
                    <a:bodyPr/>
                    <a:lstStyle/>
                    <a:p>
                      <a:pPr indent="0" marL="0">
                        <a:buNone/>
                      </a:pPr>
                      <a:r>
                        <a:rPr lang="en-US" sz="1050" b="1" dirty="0">
                          <a:solidFill>
                            <a:srgbClr val="F59E0B"/>
                          </a:solidFill>
                        </a:rPr>
                        <a:t>Operational Velocity</a:t>
                      </a:r>
                      <a:endParaRPr lang="en-US" sz="10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433"/>
                    </a:solidFill>
                  </a:tcPr>
                </a:tc>
                <a:tc>
                  <a:txBody>
                    <a:bodyPr/>
                    <a:lstStyle/>
                    <a:p>
                      <a:pPr indent="0" marL="0">
                        <a:buNone/>
                      </a:pPr>
                      <a:r>
                        <a:rPr lang="en-US" sz="1000" dirty="0">
                          <a:solidFill>
                            <a:srgbClr val="94A3B8"/>
                          </a:solidFill>
                        </a:rPr>
                        <a:t>Manual / Fragmented</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433"/>
                    </a:solidFill>
                  </a:tcPr>
                </a:tc>
                <a:tc>
                  <a:txBody>
                    <a:bodyPr/>
                    <a:lstStyle/>
                    <a:p>
                      <a:pPr indent="0" marL="0">
                        <a:buNone/>
                      </a:pPr>
                      <a:r>
                        <a:rPr lang="en-US" sz="1000" b="1" dirty="0">
                          <a:solidFill>
                            <a:srgbClr val="34D399"/>
                          </a:solidFill>
                        </a:rPr>
                        <a:t>Automated &amp; Integrated</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433"/>
                    </a:solidFill>
                  </a:tcPr>
                </a:tc>
                <a:tc>
                  <a:txBody>
                    <a:bodyPr/>
                    <a:lstStyle/>
                    <a:p>
                      <a:pPr indent="0" marL="0">
                        <a:buNone/>
                      </a:pPr>
                      <a:r>
                        <a:rPr lang="en-US" sz="1000" dirty="0">
                          <a:solidFill>
                            <a:srgbClr val="94A3B8"/>
                          </a:solidFill>
                        </a:rPr>
                        <a:t>Targets a 60% reduction in manual scheduling work, improved booking accuracy, and enhanced patient access to healthcare services through real-time availability visibility.</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433"/>
                    </a:solidFill>
                  </a:tcPr>
                </a:tc>
              </a:tr>
              <a:tr h="853440">
                <a:tc>
                  <a:txBody>
                    <a:bodyPr/>
                    <a:lstStyle/>
                    <a:p>
                      <a:pPr indent="0" marL="0">
                        <a:buNone/>
                      </a:pPr>
                      <a:r>
                        <a:rPr lang="en-US" sz="1050" b="1" dirty="0">
                          <a:solidFill>
                            <a:srgbClr val="F59E0B"/>
                          </a:solidFill>
                        </a:rPr>
                        <a:t>Process Traceability &amp; Compliance</a:t>
                      </a:r>
                      <a:endParaRPr lang="en-US" sz="10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433"/>
                    </a:solidFill>
                  </a:tcPr>
                </a:tc>
                <a:tc>
                  <a:txBody>
                    <a:bodyPr/>
                    <a:lstStyle/>
                    <a:p>
                      <a:pPr indent="0" marL="0">
                        <a:buNone/>
                      </a:pPr>
                      <a:r>
                        <a:rPr lang="en-US" sz="1000" dirty="0">
                          <a:solidFill>
                            <a:srgbClr val="94A3B8"/>
                          </a:solidFill>
                        </a:rPr>
                        <a:t>Periodic manual audits</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433"/>
                    </a:solidFill>
                  </a:tcPr>
                </a:tc>
                <a:tc>
                  <a:txBody>
                    <a:bodyPr/>
                    <a:lstStyle/>
                    <a:p>
                      <a:pPr indent="0" marL="0">
                        <a:buNone/>
                      </a:pPr>
                      <a:r>
                        <a:rPr lang="en-US" sz="1000" b="1" dirty="0">
                          <a:solidFill>
                            <a:srgbClr val="34D399"/>
                          </a:solidFill>
                        </a:rPr>
                        <a:t>Real-time audit log &amp; sign-off governance</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433"/>
                    </a:solidFill>
                  </a:tcPr>
                </a:tc>
                <a:tc>
                  <a:txBody>
                    <a:bodyPr/>
                    <a:lstStyle/>
                    <a:p>
                      <a:pPr indent="0" marL="0">
                        <a:buNone/>
                      </a:pPr>
                      <a:r>
                        <a:rPr lang="en-US" sz="1000" dirty="0">
                          <a:solidFill>
                            <a:srgbClr val="94A3B8"/>
                          </a:solidFill>
                        </a:rPr>
                        <a:t>High regulatory &amp; organizational confidence</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433"/>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TARGET SOLUTION</a:t>
            </a:r>
            <a:endParaRPr lang="en-US" sz="1000" dirty="0"/>
          </a:p>
        </p:txBody>
      </p:sp>
      <p:sp>
        <p:nvSpPr>
          <p:cNvPr id="3" name="Text 1"/>
          <p:cNvSpPr/>
          <p:nvPr/>
        </p:nvSpPr>
        <p:spPr>
          <a:xfrm>
            <a:off x="731520" y="594360"/>
            <a:ext cx="91440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Proposed Transformation &amp; Core Capabilities</a:t>
            </a:r>
            <a:endParaRPr lang="en-US" sz="2000" dirty="0"/>
          </a:p>
        </p:txBody>
      </p:sp>
      <p:sp>
        <p:nvSpPr>
          <p:cNvPr id="4" name="Shape 2"/>
          <p:cNvSpPr/>
          <p:nvPr/>
        </p:nvSpPr>
        <p:spPr>
          <a:xfrm>
            <a:off x="731520" y="1051560"/>
            <a:ext cx="10698480" cy="0"/>
          </a:xfrm>
          <a:prstGeom prst="line">
            <a:avLst/>
          </a:prstGeom>
          <a:noFill/>
          <a:ln w="12700">
            <a:solidFill>
              <a:srgbClr val="2A3449"/>
            </a:solidFill>
            <a:prstDash val="solid"/>
          </a:ln>
        </p:spPr>
      </p:sp>
      <p:sp>
        <p:nvSpPr>
          <p:cNvPr id="5" name="Shape 3"/>
          <p:cNvSpPr/>
          <p:nvPr/>
        </p:nvSpPr>
        <p:spPr>
          <a:xfrm>
            <a:off x="731520" y="1371600"/>
            <a:ext cx="5120640" cy="4572000"/>
          </a:xfrm>
          <a:prstGeom prst="roundRect">
            <a:avLst>
              <a:gd name="adj" fmla="val 2000"/>
            </a:avLst>
          </a:prstGeom>
          <a:solidFill>
            <a:srgbClr val="1E2433"/>
          </a:solidFill>
          <a:ln w="12700">
            <a:solidFill>
              <a:srgbClr val="2A3449"/>
            </a:solidFill>
            <a:prstDash val="solid"/>
          </a:ln>
        </p:spPr>
      </p:sp>
      <p:sp>
        <p:nvSpPr>
          <p:cNvPr id="6" name="Text 4"/>
          <p:cNvSpPr/>
          <p:nvPr/>
        </p:nvSpPr>
        <p:spPr>
          <a:xfrm>
            <a:off x="1005840" y="1645920"/>
            <a:ext cx="4572000" cy="36576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MediCare Appointment Transformation Platform</a:t>
            </a:r>
            <a:endParaRPr lang="en-US" sz="1600" dirty="0"/>
          </a:p>
        </p:txBody>
      </p:sp>
      <p:sp>
        <p:nvSpPr>
          <p:cNvPr id="7" name="Text 5"/>
          <p:cNvSpPr/>
          <p:nvPr/>
        </p:nvSpPr>
        <p:spPr>
          <a:xfrm>
            <a:off x="1005840" y="2103120"/>
            <a:ext cx="4572000" cy="1645920"/>
          </a:xfrm>
          <a:prstGeom prst="rect">
            <a:avLst/>
          </a:prstGeom>
          <a:noFill/>
          <a:ln/>
        </p:spPr>
        <p:txBody>
          <a:bodyPr wrap="square" rtlCol="0" anchor="ctr"/>
          <a:lstStyle/>
          <a:p>
            <a:pPr indent="0" marL="0">
              <a:buNone/>
            </a:pPr>
            <a:r>
              <a:rPr lang="en-US" sz="1200" dirty="0">
                <a:solidFill>
                  <a:srgbClr val="94A3B8"/>
                </a:solidFill>
                <a:latin typeface="Arial" pitchFamily="34" charset="0"/>
                <a:ea typeface="Arial" pitchFamily="34" charset="-122"/>
                <a:cs typeface="Arial" pitchFamily="34" charset="-120"/>
              </a:rPr>
              <a:t>A modern, AI-augmented appointment scheduling platform designed to integrate with the existing HealthBase v4 database. The solution empowers patients with self-service booking while providing reception staff with intelligent copilots to manage exceptions and improve scheduling accuracy.</a:t>
            </a:r>
            <a:endParaRPr lang="en-US" sz="1200" dirty="0"/>
          </a:p>
        </p:txBody>
      </p:sp>
      <p:sp>
        <p:nvSpPr>
          <p:cNvPr id="8" name="Text 6"/>
          <p:cNvSpPr/>
          <p:nvPr/>
        </p:nvSpPr>
        <p:spPr>
          <a:xfrm>
            <a:off x="1005840" y="3931920"/>
            <a:ext cx="45720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STRATEGIC BUSINESS VALUE</a:t>
            </a:r>
            <a:endParaRPr lang="en-US" sz="1000" dirty="0"/>
          </a:p>
        </p:txBody>
      </p:sp>
      <p:sp>
        <p:nvSpPr>
          <p:cNvPr id="9" name="Text 7"/>
          <p:cNvSpPr/>
          <p:nvPr/>
        </p:nvSpPr>
        <p:spPr>
          <a:xfrm>
            <a:off x="1005840" y="4251960"/>
            <a:ext cx="4572000" cy="137160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Targets a 60% reduction in manual scheduling work, improved booking accuracy, and enhanced patient access to healthcare services through real-time availability visibility.</a:t>
            </a:r>
            <a:endParaRPr lang="en-US" sz="1200" dirty="0"/>
          </a:p>
        </p:txBody>
      </p:sp>
      <p:sp>
        <p:nvSpPr>
          <p:cNvPr id="10" name="Shape 8"/>
          <p:cNvSpPr/>
          <p:nvPr/>
        </p:nvSpPr>
        <p:spPr>
          <a:xfrm>
            <a:off x="6309360" y="1371600"/>
            <a:ext cx="5120640" cy="4572000"/>
          </a:xfrm>
          <a:prstGeom prst="roundRect">
            <a:avLst>
              <a:gd name="adj" fmla="val 2000"/>
            </a:avLst>
          </a:prstGeom>
          <a:solidFill>
            <a:srgbClr val="1E2433"/>
          </a:solidFill>
          <a:ln w="12700">
            <a:solidFill>
              <a:srgbClr val="2A3449"/>
            </a:solidFill>
            <a:prstDash val="solid"/>
          </a:ln>
        </p:spPr>
      </p:sp>
      <p:sp>
        <p:nvSpPr>
          <p:cNvPr id="11" name="Text 9"/>
          <p:cNvSpPr/>
          <p:nvPr/>
        </p:nvSpPr>
        <p:spPr>
          <a:xfrm>
            <a:off x="6583680" y="1645920"/>
            <a:ext cx="45720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CORE SOLUTION CAPABILITIES</a:t>
            </a:r>
            <a:endParaRPr lang="en-US" sz="1000" dirty="0"/>
          </a:p>
        </p:txBody>
      </p:sp>
      <p:sp>
        <p:nvSpPr>
          <p:cNvPr id="12" name="Text 10"/>
          <p:cNvSpPr/>
          <p:nvPr/>
        </p:nvSpPr>
        <p:spPr>
          <a:xfrm>
            <a:off x="6583680" y="2011680"/>
            <a:ext cx="4572000" cy="2286000"/>
          </a:xfrm>
          <a:prstGeom prst="rect">
            <a:avLst/>
          </a:prstGeom>
          <a:noFill/>
          <a:ln/>
        </p:spPr>
        <p:txBody>
          <a:bodyPr wrap="square" rtlCol="0" anchor="ctr"/>
          <a:lstStyle/>
          <a:p>
            <a:pPr marL="342900" indent="-342900">
              <a:lnSpc>
                <a:spcPts val="1800"/>
              </a:lnSpc>
              <a:buSzPct val="100000"/>
              <a:buChar char="•"/>
            </a:pPr>
            <a:r>
              <a:rPr lang="en-US" sz="1150" dirty="0">
                <a:solidFill>
                  <a:srgbClr val="94A3B8"/>
                </a:solidFill>
              </a:rPr>
              <a:t>Patient self-service portal for appointment booking, rescheduling, and cancellation [REQ-01]</a:t>
            </a:r>
            <a:endParaRPr lang="en-US" sz="1150" dirty="0"/>
          </a:p>
          <a:p>
            <a:pPr marL="342900" indent="-342900">
              <a:lnSpc>
                <a:spcPts val="1800"/>
              </a:lnSpc>
              <a:buSzPct val="100000"/>
              <a:buChar char="•"/>
            </a:pPr>
            <a:r>
              <a:rPr lang="en-US" sz="1150" dirty="0">
                <a:solidFill>
                  <a:srgbClr val="94A3B8"/>
                </a:solidFill>
              </a:rPr>
              <a:t>Automated appointment confirmation and status updates via WhatsApp [REQ-02]</a:t>
            </a:r>
            <a:endParaRPr lang="en-US" sz="1150" dirty="0"/>
          </a:p>
          <a:p>
            <a:pPr marL="342900" indent="-342900">
              <a:lnSpc>
                <a:spcPts val="1800"/>
              </a:lnSpc>
              <a:buSzPct val="100000"/>
              <a:buChar char="•"/>
            </a:pPr>
            <a:r>
              <a:rPr lang="en-US" sz="1150" dirty="0">
                <a:solidFill>
                  <a:srgbClr val="94A3B8"/>
                </a:solidFill>
              </a:rPr>
              <a:t>Real-time availability synchronization with HealthBase v4 database [REQ-03]</a:t>
            </a:r>
            <a:endParaRPr lang="en-US" sz="1150" dirty="0"/>
          </a:p>
          <a:p>
            <a:pPr marL="342900" indent="-342900">
              <a:lnSpc>
                <a:spcPts val="1800"/>
              </a:lnSpc>
              <a:buSzPct val="100000"/>
              <a:buChar char="•"/>
            </a:pPr>
            <a:r>
              <a:rPr lang="en-US" sz="1150" dirty="0">
                <a:solidFill>
                  <a:srgbClr val="94A3B8"/>
                </a:solidFill>
              </a:rPr>
              <a:t>Intelligent triage and scheduling copilot for reception staff [Workspace Alignment]</a:t>
            </a:r>
            <a:endParaRPr lang="en-US" sz="1150" dirty="0"/>
          </a:p>
        </p:txBody>
      </p:sp>
      <p:sp>
        <p:nvSpPr>
          <p:cNvPr id="13" name="Text 11"/>
          <p:cNvSpPr/>
          <p:nvPr/>
        </p:nvSpPr>
        <p:spPr>
          <a:xfrm>
            <a:off x="6583680" y="4389120"/>
            <a:ext cx="45720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ARCHITECTURE APPROACH</a:t>
            </a:r>
            <a:endParaRPr lang="en-US" sz="1000" dirty="0"/>
          </a:p>
        </p:txBody>
      </p:sp>
      <p:sp>
        <p:nvSpPr>
          <p:cNvPr id="14" name="Text 12"/>
          <p:cNvSpPr/>
          <p:nvPr/>
        </p:nvSpPr>
        <p:spPr>
          <a:xfrm>
            <a:off x="6583680" y="4709160"/>
            <a:ext cx="4572000" cy="9144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Modular Enterprise Architecture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SYSTEMS DESIGN</a:t>
            </a:r>
            <a:endParaRPr lang="en-US" sz="1000" dirty="0"/>
          </a:p>
        </p:txBody>
      </p:sp>
      <p:sp>
        <p:nvSpPr>
          <p:cNvPr id="3" name="Text 1"/>
          <p:cNvSpPr/>
          <p:nvPr/>
        </p:nvSpPr>
        <p:spPr>
          <a:xfrm>
            <a:off x="731520" y="594360"/>
            <a:ext cx="91440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End-to-End Enterprise Architecture Topology</a:t>
            </a:r>
            <a:endParaRPr lang="en-US" sz="2000" dirty="0"/>
          </a:p>
        </p:txBody>
      </p:sp>
      <p:sp>
        <p:nvSpPr>
          <p:cNvPr id="4" name="Shape 2"/>
          <p:cNvSpPr/>
          <p:nvPr/>
        </p:nvSpPr>
        <p:spPr>
          <a:xfrm>
            <a:off x="731520" y="1051560"/>
            <a:ext cx="10698480" cy="0"/>
          </a:xfrm>
          <a:prstGeom prst="line">
            <a:avLst/>
          </a:prstGeom>
          <a:noFill/>
          <a:ln w="12700">
            <a:solidFill>
              <a:srgbClr val="2A3449"/>
            </a:solidFill>
            <a:prstDash val="solid"/>
          </a:ln>
        </p:spPr>
      </p:sp>
      <p:sp>
        <p:nvSpPr>
          <p:cNvPr id="5" name="Shape 3"/>
          <p:cNvSpPr/>
          <p:nvPr/>
        </p:nvSpPr>
        <p:spPr>
          <a:xfrm>
            <a:off x="731520" y="1371600"/>
            <a:ext cx="10698480" cy="804672"/>
          </a:xfrm>
          <a:prstGeom prst="roundRect">
            <a:avLst>
              <a:gd name="adj" fmla="val 9091"/>
            </a:avLst>
          </a:prstGeom>
          <a:solidFill>
            <a:srgbClr val="1E2433"/>
          </a:solidFill>
          <a:ln w="12700">
            <a:solidFill>
              <a:srgbClr val="2A3449"/>
            </a:solidFill>
            <a:prstDash val="solid"/>
          </a:ln>
        </p:spPr>
      </p:sp>
      <p:sp>
        <p:nvSpPr>
          <p:cNvPr id="6" name="Shape 4"/>
          <p:cNvSpPr/>
          <p:nvPr/>
        </p:nvSpPr>
        <p:spPr>
          <a:xfrm>
            <a:off x="731520" y="1371600"/>
            <a:ext cx="137160" cy="804672"/>
          </a:xfrm>
          <a:prstGeom prst="rect">
            <a:avLst/>
          </a:prstGeom>
          <a:solidFill>
            <a:srgbClr val="3B82F6"/>
          </a:solidFill>
          <a:ln/>
        </p:spPr>
      </p:sp>
      <p:sp>
        <p:nvSpPr>
          <p:cNvPr id="7" name="Text 5"/>
          <p:cNvSpPr/>
          <p:nvPr/>
        </p:nvSpPr>
        <p:spPr>
          <a:xfrm>
            <a:off x="1097280" y="1508760"/>
            <a:ext cx="292608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CLIENT TIER</a:t>
            </a:r>
            <a:endParaRPr lang="en-US" sz="1200" dirty="0"/>
          </a:p>
        </p:txBody>
      </p:sp>
      <p:sp>
        <p:nvSpPr>
          <p:cNvPr id="8" name="Text 6"/>
          <p:cNvSpPr/>
          <p:nvPr/>
        </p:nvSpPr>
        <p:spPr>
          <a:xfrm>
            <a:off x="4206240" y="1508760"/>
            <a:ext cx="6949440" cy="50292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Responsive Web Portals, Management Dashboards &amp; Mobile Gateways</a:t>
            </a:r>
            <a:endParaRPr lang="en-US" sz="1100" dirty="0"/>
          </a:p>
        </p:txBody>
      </p:sp>
      <p:sp>
        <p:nvSpPr>
          <p:cNvPr id="9" name="Shape 7"/>
          <p:cNvSpPr/>
          <p:nvPr/>
        </p:nvSpPr>
        <p:spPr>
          <a:xfrm>
            <a:off x="731520" y="2304288"/>
            <a:ext cx="10698480" cy="804672"/>
          </a:xfrm>
          <a:prstGeom prst="roundRect">
            <a:avLst>
              <a:gd name="adj" fmla="val 9091"/>
            </a:avLst>
          </a:prstGeom>
          <a:solidFill>
            <a:srgbClr val="1E2433"/>
          </a:solidFill>
          <a:ln w="12700">
            <a:solidFill>
              <a:srgbClr val="2A3449"/>
            </a:solidFill>
            <a:prstDash val="solid"/>
          </a:ln>
        </p:spPr>
      </p:sp>
      <p:sp>
        <p:nvSpPr>
          <p:cNvPr id="10" name="Shape 8"/>
          <p:cNvSpPr/>
          <p:nvPr/>
        </p:nvSpPr>
        <p:spPr>
          <a:xfrm>
            <a:off x="731520" y="2304288"/>
            <a:ext cx="137160" cy="804672"/>
          </a:xfrm>
          <a:prstGeom prst="rect">
            <a:avLst/>
          </a:prstGeom>
          <a:solidFill>
            <a:srgbClr val="D97706"/>
          </a:solidFill>
          <a:ln/>
        </p:spPr>
      </p:sp>
      <p:sp>
        <p:nvSpPr>
          <p:cNvPr id="11" name="Text 9"/>
          <p:cNvSpPr/>
          <p:nvPr/>
        </p:nvSpPr>
        <p:spPr>
          <a:xfrm>
            <a:off x="1097280" y="2441448"/>
            <a:ext cx="292608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API GATEWAY</a:t>
            </a:r>
            <a:endParaRPr lang="en-US" sz="1200" dirty="0"/>
          </a:p>
        </p:txBody>
      </p:sp>
      <p:sp>
        <p:nvSpPr>
          <p:cNvPr id="12" name="Text 10"/>
          <p:cNvSpPr/>
          <p:nvPr/>
        </p:nvSpPr>
        <p:spPr>
          <a:xfrm>
            <a:off x="4206240" y="2441448"/>
            <a:ext cx="6949440" cy="50292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Reverse Proxy, TLS Termination, Auth Token Verification, Rate Limits</a:t>
            </a:r>
            <a:endParaRPr lang="en-US" sz="1100" dirty="0"/>
          </a:p>
        </p:txBody>
      </p:sp>
      <p:sp>
        <p:nvSpPr>
          <p:cNvPr id="13" name="Shape 11"/>
          <p:cNvSpPr/>
          <p:nvPr/>
        </p:nvSpPr>
        <p:spPr>
          <a:xfrm>
            <a:off x="731520" y="3236976"/>
            <a:ext cx="10698480" cy="804672"/>
          </a:xfrm>
          <a:prstGeom prst="roundRect">
            <a:avLst>
              <a:gd name="adj" fmla="val 9091"/>
            </a:avLst>
          </a:prstGeom>
          <a:solidFill>
            <a:srgbClr val="1E2433"/>
          </a:solidFill>
          <a:ln w="12700">
            <a:solidFill>
              <a:srgbClr val="2A3449"/>
            </a:solidFill>
            <a:prstDash val="solid"/>
          </a:ln>
        </p:spPr>
      </p:sp>
      <p:sp>
        <p:nvSpPr>
          <p:cNvPr id="14" name="Shape 12"/>
          <p:cNvSpPr/>
          <p:nvPr/>
        </p:nvSpPr>
        <p:spPr>
          <a:xfrm>
            <a:off x="731520" y="3236976"/>
            <a:ext cx="137160" cy="804672"/>
          </a:xfrm>
          <a:prstGeom prst="rect">
            <a:avLst/>
          </a:prstGeom>
          <a:solidFill>
            <a:srgbClr val="10B981"/>
          </a:solidFill>
          <a:ln/>
        </p:spPr>
      </p:sp>
      <p:sp>
        <p:nvSpPr>
          <p:cNvPr id="15" name="Text 13"/>
          <p:cNvSpPr/>
          <p:nvPr/>
        </p:nvSpPr>
        <p:spPr>
          <a:xfrm>
            <a:off x="1097280" y="3374136"/>
            <a:ext cx="292608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APPLICATION SERVICES</a:t>
            </a:r>
            <a:endParaRPr lang="en-US" sz="1200" dirty="0"/>
          </a:p>
        </p:txBody>
      </p:sp>
      <p:sp>
        <p:nvSpPr>
          <p:cNvPr id="16" name="Text 14"/>
          <p:cNvSpPr/>
          <p:nvPr/>
        </p:nvSpPr>
        <p:spPr>
          <a:xfrm>
            <a:off x="4206240" y="3374136"/>
            <a:ext cx="6949440" cy="50292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Domain Microservices, Workflow Engine, Decision Rules &amp; Audit</a:t>
            </a:r>
            <a:endParaRPr lang="en-US" sz="1100" dirty="0"/>
          </a:p>
        </p:txBody>
      </p:sp>
      <p:sp>
        <p:nvSpPr>
          <p:cNvPr id="17" name="Shape 15"/>
          <p:cNvSpPr/>
          <p:nvPr/>
        </p:nvSpPr>
        <p:spPr>
          <a:xfrm>
            <a:off x="731520" y="4169664"/>
            <a:ext cx="10698480" cy="804672"/>
          </a:xfrm>
          <a:prstGeom prst="roundRect">
            <a:avLst>
              <a:gd name="adj" fmla="val 9091"/>
            </a:avLst>
          </a:prstGeom>
          <a:solidFill>
            <a:srgbClr val="1E2433"/>
          </a:solidFill>
          <a:ln w="12700">
            <a:solidFill>
              <a:srgbClr val="2A3449"/>
            </a:solidFill>
            <a:prstDash val="solid"/>
          </a:ln>
        </p:spPr>
      </p:sp>
      <p:sp>
        <p:nvSpPr>
          <p:cNvPr id="18" name="Shape 16"/>
          <p:cNvSpPr/>
          <p:nvPr/>
        </p:nvSpPr>
        <p:spPr>
          <a:xfrm>
            <a:off x="731520" y="4169664"/>
            <a:ext cx="137160" cy="804672"/>
          </a:xfrm>
          <a:prstGeom prst="rect">
            <a:avLst/>
          </a:prstGeom>
          <a:solidFill>
            <a:srgbClr val="8B5CF6"/>
          </a:solidFill>
          <a:ln/>
        </p:spPr>
      </p:sp>
      <p:sp>
        <p:nvSpPr>
          <p:cNvPr id="19" name="Text 17"/>
          <p:cNvSpPr/>
          <p:nvPr/>
        </p:nvSpPr>
        <p:spPr>
          <a:xfrm>
            <a:off x="1097280" y="4306824"/>
            <a:ext cx="292608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DATA &amp; STORAGE</a:t>
            </a:r>
            <a:endParaRPr lang="en-US" sz="1200" dirty="0"/>
          </a:p>
        </p:txBody>
      </p:sp>
      <p:sp>
        <p:nvSpPr>
          <p:cNvPr id="20" name="Text 18"/>
          <p:cNvSpPr/>
          <p:nvPr/>
        </p:nvSpPr>
        <p:spPr>
          <a:xfrm>
            <a:off x="4206240" y="4306824"/>
            <a:ext cx="6949440" cy="50292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Relational Database (ACID), Read Replicas, In-Memory Caching</a:t>
            </a:r>
            <a:endParaRPr lang="en-US" sz="1100" dirty="0"/>
          </a:p>
        </p:txBody>
      </p:sp>
      <p:sp>
        <p:nvSpPr>
          <p:cNvPr id="21" name="Shape 19"/>
          <p:cNvSpPr/>
          <p:nvPr/>
        </p:nvSpPr>
        <p:spPr>
          <a:xfrm>
            <a:off x="731520" y="5102352"/>
            <a:ext cx="10698480" cy="804672"/>
          </a:xfrm>
          <a:prstGeom prst="roundRect">
            <a:avLst>
              <a:gd name="adj" fmla="val 9091"/>
            </a:avLst>
          </a:prstGeom>
          <a:solidFill>
            <a:srgbClr val="1E2433"/>
          </a:solidFill>
          <a:ln w="12700">
            <a:solidFill>
              <a:srgbClr val="2A3449"/>
            </a:solidFill>
            <a:prstDash val="solid"/>
          </a:ln>
        </p:spPr>
      </p:sp>
      <p:sp>
        <p:nvSpPr>
          <p:cNvPr id="22" name="Shape 20"/>
          <p:cNvSpPr/>
          <p:nvPr/>
        </p:nvSpPr>
        <p:spPr>
          <a:xfrm>
            <a:off x="731520" y="5102352"/>
            <a:ext cx="137160" cy="804672"/>
          </a:xfrm>
          <a:prstGeom prst="rect">
            <a:avLst/>
          </a:prstGeom>
          <a:solidFill>
            <a:srgbClr val="EC4899"/>
          </a:solidFill>
          <a:ln/>
        </p:spPr>
      </p:sp>
      <p:sp>
        <p:nvSpPr>
          <p:cNvPr id="23" name="Text 21"/>
          <p:cNvSpPr/>
          <p:nvPr/>
        </p:nvSpPr>
        <p:spPr>
          <a:xfrm>
            <a:off x="1097280" y="5239512"/>
            <a:ext cx="292608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ENTERPRISE INTEGRATION</a:t>
            </a:r>
            <a:endParaRPr lang="en-US" sz="1200" dirty="0"/>
          </a:p>
        </p:txBody>
      </p:sp>
      <p:sp>
        <p:nvSpPr>
          <p:cNvPr id="24" name="Text 22"/>
          <p:cNvSpPr/>
          <p:nvPr/>
        </p:nvSpPr>
        <p:spPr>
          <a:xfrm>
            <a:off x="4206240" y="5239512"/>
            <a:ext cx="6949440" cy="50292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External Webhooks, Legacy Core Connectors, Messaging Bus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OPERATIONAL WORKFLOW</a:t>
            </a:r>
            <a:endParaRPr lang="en-US" sz="1000" dirty="0"/>
          </a:p>
        </p:txBody>
      </p:sp>
      <p:sp>
        <p:nvSpPr>
          <p:cNvPr id="3" name="Text 1"/>
          <p:cNvSpPr/>
          <p:nvPr/>
        </p:nvSpPr>
        <p:spPr>
          <a:xfrm>
            <a:off x="731520" y="594360"/>
            <a:ext cx="91440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Target Business Process &amp; Automated Workflow</a:t>
            </a:r>
            <a:endParaRPr lang="en-US" sz="2000" dirty="0"/>
          </a:p>
        </p:txBody>
      </p:sp>
      <p:sp>
        <p:nvSpPr>
          <p:cNvPr id="4" name="Shape 2"/>
          <p:cNvSpPr/>
          <p:nvPr/>
        </p:nvSpPr>
        <p:spPr>
          <a:xfrm>
            <a:off x="731520" y="1051560"/>
            <a:ext cx="10698480" cy="0"/>
          </a:xfrm>
          <a:prstGeom prst="line">
            <a:avLst/>
          </a:prstGeom>
          <a:noFill/>
          <a:ln w="12700">
            <a:solidFill>
              <a:srgbClr val="2A3449"/>
            </a:solidFill>
            <a:prstDash val="solid"/>
          </a:ln>
        </p:spPr>
      </p:sp>
      <p:sp>
        <p:nvSpPr>
          <p:cNvPr id="5" name="Shape 3"/>
          <p:cNvSpPr/>
          <p:nvPr/>
        </p:nvSpPr>
        <p:spPr>
          <a:xfrm>
            <a:off x="731520" y="1645920"/>
            <a:ext cx="2011680" cy="4114800"/>
          </a:xfrm>
          <a:prstGeom prst="roundRect">
            <a:avLst>
              <a:gd name="adj" fmla="val 4545"/>
            </a:avLst>
          </a:prstGeom>
          <a:solidFill>
            <a:srgbClr val="1E2433"/>
          </a:solidFill>
          <a:ln w="12700">
            <a:solidFill>
              <a:srgbClr val="2A3449"/>
            </a:solidFill>
            <a:prstDash val="solid"/>
          </a:ln>
        </p:spPr>
      </p:sp>
      <p:sp>
        <p:nvSpPr>
          <p:cNvPr id="6" name="Shape 4"/>
          <p:cNvSpPr/>
          <p:nvPr/>
        </p:nvSpPr>
        <p:spPr>
          <a:xfrm>
            <a:off x="914400" y="1828800"/>
            <a:ext cx="365760" cy="365760"/>
          </a:xfrm>
          <a:prstGeom prst="ellipse">
            <a:avLst/>
          </a:prstGeom>
          <a:solidFill>
            <a:srgbClr val="D97706"/>
          </a:solidFill>
          <a:ln/>
        </p:spPr>
      </p:sp>
      <p:sp>
        <p:nvSpPr>
          <p:cNvPr id="7" name="Text 5"/>
          <p:cNvSpPr/>
          <p:nvPr/>
        </p:nvSpPr>
        <p:spPr>
          <a:xfrm>
            <a:off x="914400" y="1828800"/>
            <a:ext cx="365760" cy="365760"/>
          </a:xfrm>
          <a:prstGeom prst="rect">
            <a:avLst/>
          </a:prstGeom>
          <a:noFill/>
          <a:ln/>
        </p:spPr>
        <p:txBody>
          <a:bodyPr wrap="square" rtlCol="0" anchor="ctr"/>
          <a:lstStyle/>
          <a:p>
            <a:pPr algn="ctr" indent="0" marL="0">
              <a:buNone/>
            </a:pPr>
            <a:r>
              <a:rPr lang="en-US" sz="1100" b="1" dirty="0">
                <a:solidFill>
                  <a:srgbClr val="FFFFFF"/>
                </a:solidFill>
              </a:rPr>
              <a:t>1</a:t>
            </a:r>
            <a:endParaRPr lang="en-US" sz="1100" dirty="0"/>
          </a:p>
        </p:txBody>
      </p:sp>
      <p:sp>
        <p:nvSpPr>
          <p:cNvPr id="8" name="Text 6"/>
          <p:cNvSpPr/>
          <p:nvPr/>
        </p:nvSpPr>
        <p:spPr>
          <a:xfrm>
            <a:off x="914400" y="2377440"/>
            <a:ext cx="1645920" cy="5486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Omnichannel Patient Request Ingestion</a:t>
            </a:r>
            <a:endParaRPr lang="en-US" sz="1200" dirty="0"/>
          </a:p>
        </p:txBody>
      </p:sp>
      <p:sp>
        <p:nvSpPr>
          <p:cNvPr id="9" name="Text 7"/>
          <p:cNvSpPr/>
          <p:nvPr/>
        </p:nvSpPr>
        <p:spPr>
          <a:xfrm>
            <a:off x="914400" y="3017520"/>
            <a:ext cx="1645920" cy="274320"/>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ACTOR: Patient &amp; Staff Web Portal</a:t>
            </a:r>
            <a:endParaRPr lang="en-US" sz="950" dirty="0"/>
          </a:p>
        </p:txBody>
      </p:sp>
      <p:sp>
        <p:nvSpPr>
          <p:cNvPr id="10" name="Text 8"/>
          <p:cNvSpPr/>
          <p:nvPr/>
        </p:nvSpPr>
        <p:spPr>
          <a:xfrm>
            <a:off x="914400" y="3383280"/>
            <a:ext cx="1645920" cy="210312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Captures self-service appointment scheduling, rescheduling, or cancellation requests submitted directly by patients or reception staff via the digital web interface.</a:t>
            </a:r>
            <a:endParaRPr lang="en-US" sz="1050" dirty="0"/>
          </a:p>
        </p:txBody>
      </p:sp>
      <p:sp>
        <p:nvSpPr>
          <p:cNvPr id="11" name="Shape 9"/>
          <p:cNvSpPr/>
          <p:nvPr/>
        </p:nvSpPr>
        <p:spPr>
          <a:xfrm>
            <a:off x="2880360" y="1645920"/>
            <a:ext cx="2011680" cy="4114800"/>
          </a:xfrm>
          <a:prstGeom prst="roundRect">
            <a:avLst>
              <a:gd name="adj" fmla="val 4545"/>
            </a:avLst>
          </a:prstGeom>
          <a:solidFill>
            <a:srgbClr val="1E2433"/>
          </a:solidFill>
          <a:ln w="12700">
            <a:solidFill>
              <a:srgbClr val="2A3449"/>
            </a:solidFill>
            <a:prstDash val="solid"/>
          </a:ln>
        </p:spPr>
      </p:sp>
      <p:sp>
        <p:nvSpPr>
          <p:cNvPr id="12" name="Shape 10"/>
          <p:cNvSpPr/>
          <p:nvPr/>
        </p:nvSpPr>
        <p:spPr>
          <a:xfrm>
            <a:off x="3063240" y="1828800"/>
            <a:ext cx="365760" cy="365760"/>
          </a:xfrm>
          <a:prstGeom prst="ellipse">
            <a:avLst/>
          </a:prstGeom>
          <a:solidFill>
            <a:srgbClr val="D97706"/>
          </a:solidFill>
          <a:ln/>
        </p:spPr>
      </p:sp>
      <p:sp>
        <p:nvSpPr>
          <p:cNvPr id="13" name="Text 11"/>
          <p:cNvSpPr/>
          <p:nvPr/>
        </p:nvSpPr>
        <p:spPr>
          <a:xfrm>
            <a:off x="3063240" y="1828800"/>
            <a:ext cx="365760" cy="365760"/>
          </a:xfrm>
          <a:prstGeom prst="rect">
            <a:avLst/>
          </a:prstGeom>
          <a:noFill/>
          <a:ln/>
        </p:spPr>
        <p:txBody>
          <a:bodyPr wrap="square" rtlCol="0" anchor="ctr"/>
          <a:lstStyle/>
          <a:p>
            <a:pPr algn="ctr" indent="0" marL="0">
              <a:buNone/>
            </a:pPr>
            <a:r>
              <a:rPr lang="en-US" sz="1100" b="1" dirty="0">
                <a:solidFill>
                  <a:srgbClr val="FFFFFF"/>
                </a:solidFill>
              </a:rPr>
              <a:t>2</a:t>
            </a:r>
            <a:endParaRPr lang="en-US" sz="1100" dirty="0"/>
          </a:p>
        </p:txBody>
      </p:sp>
      <p:sp>
        <p:nvSpPr>
          <p:cNvPr id="14" name="Text 12"/>
          <p:cNvSpPr/>
          <p:nvPr/>
        </p:nvSpPr>
        <p:spPr>
          <a:xfrm>
            <a:off x="3063240" y="2377440"/>
            <a:ext cx="1645920" cy="5486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Ingress Security &amp; Payload Validation</a:t>
            </a:r>
            <a:endParaRPr lang="en-US" sz="1200" dirty="0"/>
          </a:p>
        </p:txBody>
      </p:sp>
      <p:sp>
        <p:nvSpPr>
          <p:cNvPr id="15" name="Text 13"/>
          <p:cNvSpPr/>
          <p:nvPr/>
        </p:nvSpPr>
        <p:spPr>
          <a:xfrm>
            <a:off x="3063240" y="3017520"/>
            <a:ext cx="1645920" cy="274320"/>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ACTOR: API Security &amp; Ingress Gateway</a:t>
            </a:r>
            <a:endParaRPr lang="en-US" sz="950" dirty="0"/>
          </a:p>
        </p:txBody>
      </p:sp>
      <p:sp>
        <p:nvSpPr>
          <p:cNvPr id="16" name="Text 14"/>
          <p:cNvSpPr/>
          <p:nvPr/>
        </p:nvSpPr>
        <p:spPr>
          <a:xfrm>
            <a:off x="3063240" y="3383280"/>
            <a:ext cx="1645920" cy="210312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Validates request payload schema, enforces rate limits, and verifies session authentication prior to processing domain logic.</a:t>
            </a:r>
            <a:endParaRPr lang="en-US" sz="1050" dirty="0"/>
          </a:p>
        </p:txBody>
      </p:sp>
      <p:sp>
        <p:nvSpPr>
          <p:cNvPr id="17" name="Shape 15"/>
          <p:cNvSpPr/>
          <p:nvPr/>
        </p:nvSpPr>
        <p:spPr>
          <a:xfrm>
            <a:off x="5029200" y="1645920"/>
            <a:ext cx="2011680" cy="4114800"/>
          </a:xfrm>
          <a:prstGeom prst="roundRect">
            <a:avLst>
              <a:gd name="adj" fmla="val 4545"/>
            </a:avLst>
          </a:prstGeom>
          <a:solidFill>
            <a:srgbClr val="1E2433"/>
          </a:solidFill>
          <a:ln w="12700">
            <a:solidFill>
              <a:srgbClr val="2A3449"/>
            </a:solidFill>
            <a:prstDash val="solid"/>
          </a:ln>
        </p:spPr>
      </p:sp>
      <p:sp>
        <p:nvSpPr>
          <p:cNvPr id="18" name="Shape 16"/>
          <p:cNvSpPr/>
          <p:nvPr/>
        </p:nvSpPr>
        <p:spPr>
          <a:xfrm>
            <a:off x="5212080" y="1828800"/>
            <a:ext cx="365760" cy="365760"/>
          </a:xfrm>
          <a:prstGeom prst="ellipse">
            <a:avLst/>
          </a:prstGeom>
          <a:solidFill>
            <a:srgbClr val="D97706"/>
          </a:solidFill>
          <a:ln/>
        </p:spPr>
      </p:sp>
      <p:sp>
        <p:nvSpPr>
          <p:cNvPr id="19" name="Text 17"/>
          <p:cNvSpPr/>
          <p:nvPr/>
        </p:nvSpPr>
        <p:spPr>
          <a:xfrm>
            <a:off x="5212080" y="1828800"/>
            <a:ext cx="365760" cy="365760"/>
          </a:xfrm>
          <a:prstGeom prst="rect">
            <a:avLst/>
          </a:prstGeom>
          <a:noFill/>
          <a:ln/>
        </p:spPr>
        <p:txBody>
          <a:bodyPr wrap="square" rtlCol="0" anchor="ctr"/>
          <a:lstStyle/>
          <a:p>
            <a:pPr algn="ctr" indent="0" marL="0">
              <a:buNone/>
            </a:pPr>
            <a:r>
              <a:rPr lang="en-US" sz="1100" b="1" dirty="0">
                <a:solidFill>
                  <a:srgbClr val="FFFFFF"/>
                </a:solidFill>
              </a:rPr>
              <a:t>3</a:t>
            </a:r>
            <a:endParaRPr lang="en-US" sz="1100" dirty="0"/>
          </a:p>
        </p:txBody>
      </p:sp>
      <p:sp>
        <p:nvSpPr>
          <p:cNvPr id="20" name="Text 18"/>
          <p:cNvSpPr/>
          <p:nvPr/>
        </p:nvSpPr>
        <p:spPr>
          <a:xfrm>
            <a:off x="5212080" y="2377440"/>
            <a:ext cx="1645920" cy="5486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AI Availability Triage &amp; Slot Matching</a:t>
            </a:r>
            <a:endParaRPr lang="en-US" sz="1200" dirty="0"/>
          </a:p>
        </p:txBody>
      </p:sp>
      <p:sp>
        <p:nvSpPr>
          <p:cNvPr id="21" name="Text 19"/>
          <p:cNvSpPr/>
          <p:nvPr/>
        </p:nvSpPr>
        <p:spPr>
          <a:xfrm>
            <a:off x="5212080" y="3017520"/>
            <a:ext cx="1645920" cy="274320"/>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ACTOR: AI Triage &amp; Copilot Engine</a:t>
            </a:r>
            <a:endParaRPr lang="en-US" sz="950" dirty="0"/>
          </a:p>
        </p:txBody>
      </p:sp>
      <p:sp>
        <p:nvSpPr>
          <p:cNvPr id="22" name="Text 20"/>
          <p:cNvSpPr/>
          <p:nvPr/>
        </p:nvSpPr>
        <p:spPr>
          <a:xfrm>
            <a:off x="5212080" y="3383280"/>
            <a:ext cx="1645920" cy="210312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Evaluates requested appointment slot against doctor schedule rules, department availability, and historical booking patterns to score conflict risks and propose optimal availability.</a:t>
            </a:r>
            <a:endParaRPr lang="en-US" sz="1050" dirty="0"/>
          </a:p>
        </p:txBody>
      </p:sp>
      <p:sp>
        <p:nvSpPr>
          <p:cNvPr id="23" name="Shape 21"/>
          <p:cNvSpPr/>
          <p:nvPr/>
        </p:nvSpPr>
        <p:spPr>
          <a:xfrm>
            <a:off x="7178040" y="1645920"/>
            <a:ext cx="2011680" cy="4114800"/>
          </a:xfrm>
          <a:prstGeom prst="roundRect">
            <a:avLst>
              <a:gd name="adj" fmla="val 4545"/>
            </a:avLst>
          </a:prstGeom>
          <a:solidFill>
            <a:srgbClr val="1E2433"/>
          </a:solidFill>
          <a:ln w="12700">
            <a:solidFill>
              <a:srgbClr val="2A3449"/>
            </a:solidFill>
            <a:prstDash val="solid"/>
          </a:ln>
        </p:spPr>
      </p:sp>
      <p:sp>
        <p:nvSpPr>
          <p:cNvPr id="24" name="Shape 22"/>
          <p:cNvSpPr/>
          <p:nvPr/>
        </p:nvSpPr>
        <p:spPr>
          <a:xfrm>
            <a:off x="7360920" y="1828800"/>
            <a:ext cx="365760" cy="365760"/>
          </a:xfrm>
          <a:prstGeom prst="ellipse">
            <a:avLst/>
          </a:prstGeom>
          <a:solidFill>
            <a:srgbClr val="D97706"/>
          </a:solidFill>
          <a:ln/>
        </p:spPr>
      </p:sp>
      <p:sp>
        <p:nvSpPr>
          <p:cNvPr id="25" name="Text 23"/>
          <p:cNvSpPr/>
          <p:nvPr/>
        </p:nvSpPr>
        <p:spPr>
          <a:xfrm>
            <a:off x="7360920" y="1828800"/>
            <a:ext cx="365760" cy="365760"/>
          </a:xfrm>
          <a:prstGeom prst="rect">
            <a:avLst/>
          </a:prstGeom>
          <a:noFill/>
          <a:ln/>
        </p:spPr>
        <p:txBody>
          <a:bodyPr wrap="square" rtlCol="0" anchor="ctr"/>
          <a:lstStyle/>
          <a:p>
            <a:pPr algn="ctr" indent="0" marL="0">
              <a:buNone/>
            </a:pPr>
            <a:r>
              <a:rPr lang="en-US" sz="1100" b="1" dirty="0">
                <a:solidFill>
                  <a:srgbClr val="FFFFFF"/>
                </a:solidFill>
              </a:rPr>
              <a:t>4</a:t>
            </a:r>
            <a:endParaRPr lang="en-US" sz="1100" dirty="0"/>
          </a:p>
        </p:txBody>
      </p:sp>
      <p:sp>
        <p:nvSpPr>
          <p:cNvPr id="26" name="Text 24"/>
          <p:cNvSpPr/>
          <p:nvPr/>
        </p:nvSpPr>
        <p:spPr>
          <a:xfrm>
            <a:off x="7360920" y="2377440"/>
            <a:ext cx="1645920" cy="5486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Straight-Through Automation Governance Gate</a:t>
            </a:r>
            <a:endParaRPr lang="en-US" sz="1200" dirty="0"/>
          </a:p>
        </p:txBody>
      </p:sp>
      <p:sp>
        <p:nvSpPr>
          <p:cNvPr id="27" name="Text 25"/>
          <p:cNvSpPr/>
          <p:nvPr/>
        </p:nvSpPr>
        <p:spPr>
          <a:xfrm>
            <a:off x="7360920" y="3017520"/>
            <a:ext cx="1645920" cy="274320"/>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ACTOR: Appointment Workflow Service</a:t>
            </a:r>
            <a:endParaRPr lang="en-US" sz="950" dirty="0"/>
          </a:p>
        </p:txBody>
      </p:sp>
      <p:sp>
        <p:nvSpPr>
          <p:cNvPr id="28" name="Text 26"/>
          <p:cNvSpPr/>
          <p:nvPr/>
        </p:nvSpPr>
        <p:spPr>
          <a:xfrm>
            <a:off x="7360920" y="3383280"/>
            <a:ext cx="1645920" cy="210312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Evaluates AI triage confidence score and risk profile to determine whether the booking can proceed automatically or requires reception staff review.</a:t>
            </a:r>
            <a:endParaRPr lang="en-US" sz="1050" dirty="0"/>
          </a:p>
        </p:txBody>
      </p:sp>
      <p:sp>
        <p:nvSpPr>
          <p:cNvPr id="29" name="Shape 27"/>
          <p:cNvSpPr/>
          <p:nvPr/>
        </p:nvSpPr>
        <p:spPr>
          <a:xfrm>
            <a:off x="9326880" y="1645920"/>
            <a:ext cx="2011680" cy="4114800"/>
          </a:xfrm>
          <a:prstGeom prst="roundRect">
            <a:avLst>
              <a:gd name="adj" fmla="val 4545"/>
            </a:avLst>
          </a:prstGeom>
          <a:solidFill>
            <a:srgbClr val="1E2433"/>
          </a:solidFill>
          <a:ln w="12700">
            <a:solidFill>
              <a:srgbClr val="2A3449"/>
            </a:solidFill>
            <a:prstDash val="solid"/>
          </a:ln>
        </p:spPr>
      </p:sp>
      <p:sp>
        <p:nvSpPr>
          <p:cNvPr id="30" name="Shape 28"/>
          <p:cNvSpPr/>
          <p:nvPr/>
        </p:nvSpPr>
        <p:spPr>
          <a:xfrm>
            <a:off x="9509760" y="1828800"/>
            <a:ext cx="365760" cy="365760"/>
          </a:xfrm>
          <a:prstGeom prst="ellipse">
            <a:avLst/>
          </a:prstGeom>
          <a:solidFill>
            <a:srgbClr val="D97706"/>
          </a:solidFill>
          <a:ln/>
        </p:spPr>
      </p:sp>
      <p:sp>
        <p:nvSpPr>
          <p:cNvPr id="31" name="Text 29"/>
          <p:cNvSpPr/>
          <p:nvPr/>
        </p:nvSpPr>
        <p:spPr>
          <a:xfrm>
            <a:off x="9509760" y="1828800"/>
            <a:ext cx="365760" cy="365760"/>
          </a:xfrm>
          <a:prstGeom prst="rect">
            <a:avLst/>
          </a:prstGeom>
          <a:noFill/>
          <a:ln/>
        </p:spPr>
        <p:txBody>
          <a:bodyPr wrap="square" rtlCol="0" anchor="ctr"/>
          <a:lstStyle/>
          <a:p>
            <a:pPr algn="ctr" indent="0" marL="0">
              <a:buNone/>
            </a:pPr>
            <a:r>
              <a:rPr lang="en-US" sz="1100" b="1" dirty="0">
                <a:solidFill>
                  <a:srgbClr val="FFFFFF"/>
                </a:solidFill>
              </a:rPr>
              <a:t>5</a:t>
            </a:r>
            <a:endParaRPr lang="en-US" sz="1100" dirty="0"/>
          </a:p>
        </p:txBody>
      </p:sp>
      <p:sp>
        <p:nvSpPr>
          <p:cNvPr id="32" name="Text 30"/>
          <p:cNvSpPr/>
          <p:nvPr/>
        </p:nvSpPr>
        <p:spPr>
          <a:xfrm>
            <a:off x="9509760" y="2377440"/>
            <a:ext cx="1645920" cy="5486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Reception Copilot Exception Management</a:t>
            </a:r>
            <a:endParaRPr lang="en-US" sz="1200" dirty="0"/>
          </a:p>
        </p:txBody>
      </p:sp>
      <p:sp>
        <p:nvSpPr>
          <p:cNvPr id="33" name="Text 31"/>
          <p:cNvSpPr/>
          <p:nvPr/>
        </p:nvSpPr>
        <p:spPr>
          <a:xfrm>
            <a:off x="9509760" y="3017520"/>
            <a:ext cx="1645920" cy="274320"/>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ACTOR: Reception Staff</a:t>
            </a:r>
            <a:endParaRPr lang="en-US" sz="950" dirty="0"/>
          </a:p>
        </p:txBody>
      </p:sp>
      <p:sp>
        <p:nvSpPr>
          <p:cNvPr id="34" name="Text 32"/>
          <p:cNvSpPr/>
          <p:nvPr/>
        </p:nvSpPr>
        <p:spPr>
          <a:xfrm>
            <a:off x="9509760" y="3383280"/>
            <a:ext cx="1645920" cy="210312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Reception staff review complex, conflicting, or flagged appointment requests using AI copilot recommendations to adjust timing or assign alternative doctors.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DATA ARCHITECTURE</a:t>
            </a:r>
            <a:endParaRPr lang="en-US" sz="1000" dirty="0"/>
          </a:p>
        </p:txBody>
      </p:sp>
      <p:sp>
        <p:nvSpPr>
          <p:cNvPr id="3" name="Text 1"/>
          <p:cNvSpPr/>
          <p:nvPr/>
        </p:nvSpPr>
        <p:spPr>
          <a:xfrm>
            <a:off x="731520" y="594360"/>
            <a:ext cx="91440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Core Relational Domain &amp; Enterprise REST APIs</a:t>
            </a:r>
            <a:endParaRPr lang="en-US" sz="2000" dirty="0"/>
          </a:p>
        </p:txBody>
      </p:sp>
      <p:sp>
        <p:nvSpPr>
          <p:cNvPr id="4" name="Shape 2"/>
          <p:cNvSpPr/>
          <p:nvPr/>
        </p:nvSpPr>
        <p:spPr>
          <a:xfrm>
            <a:off x="731520" y="1051560"/>
            <a:ext cx="10698480" cy="0"/>
          </a:xfrm>
          <a:prstGeom prst="line">
            <a:avLst/>
          </a:prstGeom>
          <a:noFill/>
          <a:ln w="12700">
            <a:solidFill>
              <a:srgbClr val="2A3449"/>
            </a:solidFill>
            <a:prstDash val="solid"/>
          </a:ln>
        </p:spPr>
      </p:sp>
      <p:sp>
        <p:nvSpPr>
          <p:cNvPr id="5" name="Shape 3"/>
          <p:cNvSpPr/>
          <p:nvPr/>
        </p:nvSpPr>
        <p:spPr>
          <a:xfrm>
            <a:off x="731520" y="1371600"/>
            <a:ext cx="5120640" cy="4572000"/>
          </a:xfrm>
          <a:prstGeom prst="roundRect">
            <a:avLst>
              <a:gd name="adj" fmla="val 2000"/>
            </a:avLst>
          </a:prstGeom>
          <a:solidFill>
            <a:srgbClr val="1E2433"/>
          </a:solidFill>
          <a:ln w="12700">
            <a:solidFill>
              <a:srgbClr val="2A3449"/>
            </a:solidFill>
            <a:prstDash val="solid"/>
          </a:ln>
        </p:spPr>
      </p:sp>
      <p:sp>
        <p:nvSpPr>
          <p:cNvPr id="6" name="Text 4"/>
          <p:cNvSpPr/>
          <p:nvPr/>
        </p:nvSpPr>
        <p:spPr>
          <a:xfrm>
            <a:off x="1005840" y="1645920"/>
            <a:ext cx="45720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CORE RELATIONAL ENTITIES</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005840" y="2011680"/>
          <a:ext cx="4572000" cy="3657600"/>
        </p:xfrm>
        <a:graphic>
          <a:graphicData uri="http://schemas.openxmlformats.org/drawingml/2006/table">
            <a:tbl>
              <a:tblPr/>
              <a:tblGrid>
                <a:gridCol w="1188720"/>
                <a:gridCol w="731520"/>
                <a:gridCol w="640080"/>
                <a:gridCol w="2011680"/>
              </a:tblGrid>
              <a:tr h="914400">
                <a:tc>
                  <a:txBody>
                    <a:bodyPr/>
                    <a:lstStyle/>
                    <a:p>
                      <a:pPr indent="0" marL="0">
                        <a:buNone/>
                      </a:pPr>
                      <a:r>
                        <a:rPr lang="en-US" sz="1000" b="1" dirty="0">
                          <a:solidFill>
                            <a:srgbClr val="FFFFFF"/>
                          </a:solidFill>
                        </a:rPr>
                        <a:t>ENTITY</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PK</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FIELDS</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BUSINESS MEANING</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r>
              <a:tr h="914400">
                <a:tc>
                  <a:txBody>
                    <a:bodyPr/>
                    <a:lstStyle/>
                    <a:p>
                      <a:pPr indent="0" marL="0">
                        <a:buNone/>
                      </a:pPr>
                      <a:r>
                        <a:rPr lang="en-US" sz="1000" b="1" dirty="0">
                          <a:solidFill>
                            <a:srgbClr val="FFFFFF"/>
                          </a:solidFill>
                        </a:rPr>
                        <a:t>Doctor</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F59E0B"/>
                          </a:solidFill>
                        </a:rPr>
                        <a:t>id</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94A3B8"/>
                          </a:solidFill>
                        </a:rPr>
                        <a:t>4</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Represents medical practitioners available for appointments.</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914400">
                <a:tc>
                  <a:txBody>
                    <a:bodyPr/>
                    <a:lstStyle/>
                    <a:p>
                      <a:pPr indent="0" marL="0">
                        <a:buNone/>
                      </a:pPr>
                      <a:r>
                        <a:rPr lang="en-US" sz="1000" b="1" dirty="0">
                          <a:solidFill>
                            <a:srgbClr val="FFFFFF"/>
                          </a:solidFill>
                        </a:rPr>
                        <a:t>Patient</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F59E0B"/>
                          </a:solidFill>
                        </a:rPr>
                        <a:t>id</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94A3B8"/>
                          </a:solidFill>
                        </a:rPr>
                        <a:t>4</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Represents patients who book appointments.</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914400">
                <a:tc>
                  <a:txBody>
                    <a:bodyPr/>
                    <a:lstStyle/>
                    <a:p>
                      <a:pPr indent="0" marL="0">
                        <a:buNone/>
                      </a:pPr>
                      <a:r>
                        <a:rPr lang="en-US" sz="1000" b="1" dirty="0">
                          <a:solidFill>
                            <a:srgbClr val="FFFFFF"/>
                          </a:solidFill>
                        </a:rPr>
                        <a:t>Appointment</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F59E0B"/>
                          </a:solidFill>
                        </a:rPr>
                        <a:t>id</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94A3B8"/>
                          </a:solidFill>
                        </a:rPr>
                        <a:t>6</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Represents the core appointment transaction between a patient and a doctor.</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bl>
          </a:graphicData>
        </a:graphic>
      </p:graphicFrame>
      <p:sp>
        <p:nvSpPr>
          <p:cNvPr id="8" name="Shape 5"/>
          <p:cNvSpPr/>
          <p:nvPr/>
        </p:nvSpPr>
        <p:spPr>
          <a:xfrm>
            <a:off x="6309360" y="1371600"/>
            <a:ext cx="5120640" cy="4572000"/>
          </a:xfrm>
          <a:prstGeom prst="roundRect">
            <a:avLst>
              <a:gd name="adj" fmla="val 2000"/>
            </a:avLst>
          </a:prstGeom>
          <a:solidFill>
            <a:srgbClr val="1E2433"/>
          </a:solidFill>
          <a:ln w="12700">
            <a:solidFill>
              <a:srgbClr val="2A3449"/>
            </a:solidFill>
            <a:prstDash val="solid"/>
          </a:ln>
        </p:spPr>
      </p:sp>
      <p:sp>
        <p:nvSpPr>
          <p:cNvPr id="9" name="Text 6"/>
          <p:cNvSpPr/>
          <p:nvPr/>
        </p:nvSpPr>
        <p:spPr>
          <a:xfrm>
            <a:off x="6583680" y="1645920"/>
            <a:ext cx="45720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PRIMARY SERVICE CONTRACTS</a:t>
            </a:r>
            <a:endParaRPr lang="en-US" sz="10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583680" y="2011680"/>
          <a:ext cx="4572000" cy="3657600"/>
        </p:xfrm>
        <a:graphic>
          <a:graphicData uri="http://schemas.openxmlformats.org/drawingml/2006/table">
            <a:tbl>
              <a:tblPr/>
              <a:tblGrid>
                <a:gridCol w="914400"/>
                <a:gridCol w="2286000"/>
                <a:gridCol w="1371600"/>
              </a:tblGrid>
              <a:tr h="731520">
                <a:tc>
                  <a:txBody>
                    <a:bodyPr/>
                    <a:lstStyle/>
                    <a:p>
                      <a:pPr indent="0" marL="0">
                        <a:buNone/>
                      </a:pPr>
                      <a:r>
                        <a:rPr lang="en-US" sz="1000" b="1" dirty="0">
                          <a:solidFill>
                            <a:srgbClr val="FFFFFF"/>
                          </a:solidFill>
                        </a:rPr>
                        <a:t>VERB</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ENDPOINT</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AUTH</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r>
              <a:tr h="731520">
                <a:tc>
                  <a:txBody>
                    <a:bodyPr/>
                    <a:lstStyle/>
                    <a:p>
                      <a:pPr indent="0" marL="0">
                        <a:buNone/>
                      </a:pPr>
                      <a:r>
                        <a:rPr lang="en-US" sz="950" b="1" dirty="0">
                          <a:solidFill>
                            <a:srgbClr val="34D399"/>
                          </a:solidFill>
                        </a:rPr>
                        <a:t>POST</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FFFFFF"/>
                          </a:solidFill>
                        </a:rPr>
                        <a:t>/api/v1/appointments</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Bearer Token</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731520">
                <a:tc>
                  <a:txBody>
                    <a:bodyPr/>
                    <a:lstStyle/>
                    <a:p>
                      <a:pPr indent="0" marL="0">
                        <a:buNone/>
                      </a:pPr>
                      <a:r>
                        <a:rPr lang="en-US" sz="950" b="1" dirty="0">
                          <a:solidFill>
                            <a:srgbClr val="60A5FA"/>
                          </a:solidFill>
                        </a:rPr>
                        <a:t>GET</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FFFFFF"/>
                          </a:solidFill>
                        </a:rPr>
                        <a:t>/api/v1/doctors</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Bearer Token</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731520">
                <a:tc>
                  <a:txBody>
                    <a:bodyPr/>
                    <a:lstStyle/>
                    <a:p>
                      <a:pPr indent="0" marL="0">
                        <a:buNone/>
                      </a:pPr>
                      <a:r>
                        <a:rPr lang="en-US" sz="950" b="1" dirty="0">
                          <a:solidFill>
                            <a:srgbClr val="60A5FA"/>
                          </a:solidFill>
                        </a:rPr>
                        <a:t>GET</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FFFFFF"/>
                          </a:solidFill>
                        </a:rPr>
                        <a:t>/api/v1/patients/:id</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Bearer Token</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731520">
                <a:tc>
                  <a:txBody>
                    <a:bodyPr/>
                    <a:lstStyle/>
                    <a:p>
                      <a:pPr indent="0" marL="0">
                        <a:buNone/>
                      </a:pPr>
                      <a:r>
                        <a:rPr lang="en-US" sz="950" b="1" dirty="0">
                          <a:solidFill>
                            <a:srgbClr val="34D399"/>
                          </a:solidFill>
                        </a:rPr>
                        <a:t>PATCH</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FFFFFF"/>
                          </a:solidFill>
                        </a:rPr>
                        <a:t>/api/v1/appointments/:id/cancel</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Bearer Token</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EXPERIENCE DESIGN</a:t>
            </a:r>
            <a:endParaRPr lang="en-US" sz="1000" dirty="0"/>
          </a:p>
        </p:txBody>
      </p:sp>
      <p:sp>
        <p:nvSpPr>
          <p:cNvPr id="3" name="Text 1"/>
          <p:cNvSpPr/>
          <p:nvPr/>
        </p:nvSpPr>
        <p:spPr>
          <a:xfrm>
            <a:off x="731520" y="594360"/>
            <a:ext cx="91440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User Experience, Personas &amp; Journey Alignment</a:t>
            </a:r>
            <a:endParaRPr lang="en-US" sz="2000" dirty="0"/>
          </a:p>
        </p:txBody>
      </p:sp>
      <p:sp>
        <p:nvSpPr>
          <p:cNvPr id="4" name="Shape 2"/>
          <p:cNvSpPr/>
          <p:nvPr/>
        </p:nvSpPr>
        <p:spPr>
          <a:xfrm>
            <a:off x="731520" y="1051560"/>
            <a:ext cx="10698480" cy="0"/>
          </a:xfrm>
          <a:prstGeom prst="line">
            <a:avLst/>
          </a:prstGeom>
          <a:noFill/>
          <a:ln w="12700">
            <a:solidFill>
              <a:srgbClr val="2A3449"/>
            </a:solidFill>
            <a:prstDash val="solid"/>
          </a:ln>
        </p:spPr>
      </p:sp>
      <p:sp>
        <p:nvSpPr>
          <p:cNvPr id="5" name="Shape 3"/>
          <p:cNvSpPr/>
          <p:nvPr/>
        </p:nvSpPr>
        <p:spPr>
          <a:xfrm>
            <a:off x="731520" y="1371600"/>
            <a:ext cx="5120640" cy="4572000"/>
          </a:xfrm>
          <a:prstGeom prst="roundRect">
            <a:avLst>
              <a:gd name="adj" fmla="val 2000"/>
            </a:avLst>
          </a:prstGeom>
          <a:solidFill>
            <a:srgbClr val="1E2433"/>
          </a:solidFill>
          <a:ln w="12700">
            <a:solidFill>
              <a:srgbClr val="2A3449"/>
            </a:solidFill>
            <a:prstDash val="solid"/>
          </a:ln>
        </p:spPr>
      </p:sp>
      <p:sp>
        <p:nvSpPr>
          <p:cNvPr id="6" name="Text 4"/>
          <p:cNvSpPr/>
          <p:nvPr/>
        </p:nvSpPr>
        <p:spPr>
          <a:xfrm>
            <a:off x="1005840" y="1645920"/>
            <a:ext cx="45720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TARGET USER PERSONAS</a:t>
            </a:r>
            <a:endParaRPr lang="en-US" sz="1000" dirty="0"/>
          </a:p>
        </p:txBody>
      </p:sp>
      <p:sp>
        <p:nvSpPr>
          <p:cNvPr id="7" name="Text 5"/>
          <p:cNvSpPr/>
          <p:nvPr/>
        </p:nvSpPr>
        <p:spPr>
          <a:xfrm>
            <a:off x="1005840" y="2103120"/>
            <a:ext cx="457200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Primary Operator (Business User)</a:t>
            </a:r>
            <a:endParaRPr lang="en-US" sz="1200" dirty="0"/>
          </a:p>
        </p:txBody>
      </p:sp>
      <p:sp>
        <p:nvSpPr>
          <p:cNvPr id="8" name="Text 6"/>
          <p:cNvSpPr/>
          <p:nvPr/>
        </p:nvSpPr>
        <p:spPr>
          <a:xfrm>
            <a:off x="1005840" y="2423160"/>
            <a:ext cx="4572000" cy="5486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Primary Goal: Execute daily core workflow tasks efficiently</a:t>
            </a:r>
            <a:endParaRPr lang="en-US" sz="1100" dirty="0"/>
          </a:p>
        </p:txBody>
      </p:sp>
      <p:sp>
        <p:nvSpPr>
          <p:cNvPr id="9" name="Text 7"/>
          <p:cNvSpPr/>
          <p:nvPr/>
        </p:nvSpPr>
        <p:spPr>
          <a:xfrm>
            <a:off x="1005840" y="3291840"/>
            <a:ext cx="457200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  Supervisor / Executive (Management)</a:t>
            </a:r>
            <a:endParaRPr lang="en-US" sz="1200" dirty="0"/>
          </a:p>
        </p:txBody>
      </p:sp>
      <p:sp>
        <p:nvSpPr>
          <p:cNvPr id="10" name="Text 8"/>
          <p:cNvSpPr/>
          <p:nvPr/>
        </p:nvSpPr>
        <p:spPr>
          <a:xfrm>
            <a:off x="1005840" y="3611880"/>
            <a:ext cx="4572000" cy="5486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Primary Goal: Monitor performance, governance approvals, and exceptions</a:t>
            </a:r>
            <a:endParaRPr lang="en-US" sz="1100" dirty="0"/>
          </a:p>
        </p:txBody>
      </p:sp>
      <p:sp>
        <p:nvSpPr>
          <p:cNvPr id="11" name="Shape 9"/>
          <p:cNvSpPr/>
          <p:nvPr/>
        </p:nvSpPr>
        <p:spPr>
          <a:xfrm>
            <a:off x="6309360" y="1371600"/>
            <a:ext cx="5120640" cy="4572000"/>
          </a:xfrm>
          <a:prstGeom prst="roundRect">
            <a:avLst>
              <a:gd name="adj" fmla="val 2000"/>
            </a:avLst>
          </a:prstGeom>
          <a:solidFill>
            <a:srgbClr val="1E2433"/>
          </a:solidFill>
          <a:ln w="12700">
            <a:solidFill>
              <a:srgbClr val="2A3449"/>
            </a:solidFill>
            <a:prstDash val="solid"/>
          </a:ln>
        </p:spPr>
      </p:sp>
      <p:sp>
        <p:nvSpPr>
          <p:cNvPr id="12" name="Text 10"/>
          <p:cNvSpPr/>
          <p:nvPr/>
        </p:nvSpPr>
        <p:spPr>
          <a:xfrm>
            <a:off x="6583680" y="1645920"/>
            <a:ext cx="45720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CORE INTERFACES &amp; ACCESSIBILITY</a:t>
            </a:r>
            <a:endParaRPr lang="en-US" sz="1000" dirty="0"/>
          </a:p>
        </p:txBody>
      </p:sp>
      <p:sp>
        <p:nvSpPr>
          <p:cNvPr id="13" name="Text 11"/>
          <p:cNvSpPr/>
          <p:nvPr/>
        </p:nvSpPr>
        <p:spPr>
          <a:xfrm>
            <a:off x="6583680" y="2103120"/>
            <a:ext cx="4572000" cy="2377440"/>
          </a:xfrm>
          <a:prstGeom prst="rect">
            <a:avLst/>
          </a:prstGeom>
          <a:noFill/>
          <a:ln/>
        </p:spPr>
        <p:txBody>
          <a:bodyPr wrap="square" rtlCol="0" anchor="ctr"/>
          <a:lstStyle/>
          <a:p>
            <a:pPr marL="342900" indent="-342900">
              <a:lnSpc>
                <a:spcPts val="1600"/>
              </a:lnSpc>
              <a:buSzPct val="100000"/>
              <a:buChar char="•"/>
            </a:pPr>
            <a:r>
              <a:rPr lang="en-US" sz="1100" dirty="0">
                <a:solidFill>
                  <a:srgbClr val="94A3B8"/>
                </a:solidFill>
              </a:rPr>
              <a:t>Active Deliveries &amp; Shipment Status Dashboard: High-level operational overview showcasing fleet utilization, active delivery routes, and transit latency metrics.</a:t>
            </a:r>
            <a:endParaRPr lang="en-US" sz="1100" dirty="0"/>
          </a:p>
          <a:p>
            <a:pPr marL="342900" indent="-342900">
              <a:lnSpc>
                <a:spcPts val="1600"/>
              </a:lnSpc>
              <a:buSzPct val="100000"/>
              <a:buChar char="•"/>
            </a:pPr>
            <a:r>
              <a:rPr lang="en-US" sz="1100" dirty="0">
                <a:solidFill>
                  <a:srgbClr val="94A3B8"/>
                </a:solidFill>
              </a:rPr>
              <a:t>Driver Routes &amp; Delivery Dispatch Console: Ergonomic split-view interface for dispatchers to manage multi-stop routes with real-time driver telemetry and AI-driven reassignment suggestions.</a:t>
            </a:r>
            <a:endParaRPr lang="en-US" sz="1100" dirty="0"/>
          </a:p>
          <a:p>
            <a:pPr marL="342900" indent="-342900">
              <a:lnSpc>
                <a:spcPts val="1600"/>
              </a:lnSpc>
              <a:buSzPct val="100000"/>
              <a:buChar char="•"/>
            </a:pPr>
            <a:r>
              <a:rPr lang="en-US" sz="1100" dirty="0">
                <a:solidFill>
                  <a:srgbClr val="94A3B8"/>
                </a:solidFill>
              </a:rPr>
              <a:t>Warehouse Hub &amp; Inventory Rules Manager: Supervisory controls for configuring warehouse fulfillment logic, vehicle load thresholds, and automated dispatch policy overrides.</a:t>
            </a:r>
            <a:endParaRPr lang="en-US" sz="1100" dirty="0"/>
          </a:p>
          <a:p>
            <a:pPr marL="342900" indent="-342900">
              <a:lnSpc>
                <a:spcPts val="1600"/>
              </a:lnSpc>
              <a:buSzPct val="100000"/>
              <a:buChar char="•"/>
            </a:pPr>
            <a:r>
              <a:rPr lang="en-US" sz="1100" dirty="0">
                <a:solidFill>
                  <a:srgbClr val="94A3B8"/>
                </a:solidFill>
              </a:rPr>
              <a:t>Transit Latency &amp; Fulfillment Analytics: Historical reporting on delivery cycle times, warehouse throughput efficiency, and fleet performance benchmarks against SLAs.</a:t>
            </a:r>
            <a:endParaRPr lang="en-US" sz="1100" dirty="0"/>
          </a:p>
        </p:txBody>
      </p:sp>
      <p:sp>
        <p:nvSpPr>
          <p:cNvPr id="14" name="Text 12"/>
          <p:cNvSpPr/>
          <p:nvPr/>
        </p:nvSpPr>
        <p:spPr>
          <a:xfrm>
            <a:off x="6583680" y="4572000"/>
            <a:ext cx="45720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ACCESSIBILITY &amp; COMPLIANCE</a:t>
            </a:r>
            <a:endParaRPr lang="en-US" sz="1000" dirty="0"/>
          </a:p>
        </p:txBody>
      </p:sp>
      <p:sp>
        <p:nvSpPr>
          <p:cNvPr id="15" name="Text 13"/>
          <p:cNvSpPr/>
          <p:nvPr/>
        </p:nvSpPr>
        <p:spPr>
          <a:xfrm>
            <a:off x="6583680" y="4892040"/>
            <a:ext cx="4572000" cy="82296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WCAG 2.1 AA Compliant, keyboard navigable, responsive high-contrast layouts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DELIVERY EXECUTION</a:t>
            </a:r>
            <a:endParaRPr lang="en-US" sz="1000" dirty="0"/>
          </a:p>
        </p:txBody>
      </p:sp>
      <p:sp>
        <p:nvSpPr>
          <p:cNvPr id="3" name="Text 1"/>
          <p:cNvSpPr/>
          <p:nvPr/>
        </p:nvSpPr>
        <p:spPr>
          <a:xfrm>
            <a:off x="731520" y="594360"/>
            <a:ext cx="91440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Phased Implementation Timeline &amp; Milestones</a:t>
            </a:r>
            <a:endParaRPr lang="en-US" sz="2000" dirty="0"/>
          </a:p>
        </p:txBody>
      </p:sp>
      <p:sp>
        <p:nvSpPr>
          <p:cNvPr id="4" name="Shape 2"/>
          <p:cNvSpPr/>
          <p:nvPr/>
        </p:nvSpPr>
        <p:spPr>
          <a:xfrm>
            <a:off x="731520" y="1051560"/>
            <a:ext cx="10698480" cy="0"/>
          </a:xfrm>
          <a:prstGeom prst="line">
            <a:avLst/>
          </a:prstGeom>
          <a:noFill/>
          <a:ln w="12700">
            <a:solidFill>
              <a:srgbClr val="2A3449"/>
            </a:solidFill>
            <a:prstDash val="solid"/>
          </a:ln>
        </p:spPr>
      </p:sp>
      <p:sp>
        <p:nvSpPr>
          <p:cNvPr id="5" name="Shape 3"/>
          <p:cNvSpPr/>
          <p:nvPr/>
        </p:nvSpPr>
        <p:spPr>
          <a:xfrm>
            <a:off x="731520" y="1463040"/>
            <a:ext cx="2560320" cy="4389120"/>
          </a:xfrm>
          <a:prstGeom prst="roundRect">
            <a:avLst>
              <a:gd name="adj" fmla="val 3571"/>
            </a:avLst>
          </a:prstGeom>
          <a:solidFill>
            <a:srgbClr val="1E2433"/>
          </a:solidFill>
          <a:ln w="12700">
            <a:solidFill>
              <a:srgbClr val="2A3449"/>
            </a:solidFill>
            <a:prstDash val="solid"/>
          </a:ln>
        </p:spPr>
      </p:sp>
      <p:sp>
        <p:nvSpPr>
          <p:cNvPr id="6" name="Text 4"/>
          <p:cNvSpPr/>
          <p:nvPr/>
        </p:nvSpPr>
        <p:spPr>
          <a:xfrm>
            <a:off x="914400" y="1645920"/>
            <a:ext cx="2194560" cy="22860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PHASE 01</a:t>
            </a:r>
            <a:endParaRPr lang="en-US" sz="1000" dirty="0"/>
          </a:p>
        </p:txBody>
      </p:sp>
      <p:sp>
        <p:nvSpPr>
          <p:cNvPr id="7" name="Text 5"/>
          <p:cNvSpPr/>
          <p:nvPr/>
        </p:nvSpPr>
        <p:spPr>
          <a:xfrm>
            <a:off x="914400" y="1920240"/>
            <a:ext cx="219456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Phase 1: Architecture &amp; Security Foundation</a:t>
            </a:r>
            <a:endParaRPr lang="en-US" sz="1300" dirty="0"/>
          </a:p>
        </p:txBody>
      </p:sp>
      <p:sp>
        <p:nvSpPr>
          <p:cNvPr id="8" name="Text 6"/>
          <p:cNvSpPr/>
          <p:nvPr/>
        </p:nvSpPr>
        <p:spPr>
          <a:xfrm>
            <a:off x="914400" y="2560320"/>
            <a:ext cx="219456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Duration: 2 Weeks</a:t>
            </a:r>
            <a:endParaRPr lang="en-US" sz="1100" dirty="0"/>
          </a:p>
        </p:txBody>
      </p:sp>
      <p:sp>
        <p:nvSpPr>
          <p:cNvPr id="9" name="Text 7"/>
          <p:cNvSpPr/>
          <p:nvPr/>
        </p:nvSpPr>
        <p:spPr>
          <a:xfrm>
            <a:off x="914400" y="2926080"/>
            <a:ext cx="2194560" cy="109728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Focus:</a:t>
            </a:r>
            <a:endParaRPr lang="en-US" sz="1050" dirty="0"/>
          </a:p>
          <a:p>
            <a:pPr indent="0" marL="0">
              <a:buNone/>
            </a:pPr>
            <a:r>
              <a:rPr lang="en-US" sz="1050" dirty="0">
                <a:solidFill>
                  <a:srgbClr val="94A3B8"/>
                </a:solidFill>
                <a:latin typeface="Arial" pitchFamily="34" charset="0"/>
                <a:ea typeface="Arial" pitchFamily="34" charset="-122"/>
                <a:cs typeface="Arial" pitchFamily="34" charset="-120"/>
              </a:rPr>
              <a:t>Environment setup, JWT perimeter security, CI/CD pipeline, and architecture signoff</a:t>
            </a:r>
            <a:endParaRPr lang="en-US" sz="1050" dirty="0"/>
          </a:p>
        </p:txBody>
      </p:sp>
      <p:sp>
        <p:nvSpPr>
          <p:cNvPr id="10" name="Text 8"/>
          <p:cNvSpPr/>
          <p:nvPr/>
        </p:nvSpPr>
        <p:spPr>
          <a:xfrm>
            <a:off x="914400" y="4206240"/>
            <a:ext cx="2194560" cy="3657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Scheduled Tasks: 1</a:t>
            </a:r>
            <a:endParaRPr lang="en-US" sz="1050" dirty="0"/>
          </a:p>
        </p:txBody>
      </p:sp>
      <p:sp>
        <p:nvSpPr>
          <p:cNvPr id="11" name="Shape 9"/>
          <p:cNvSpPr/>
          <p:nvPr/>
        </p:nvSpPr>
        <p:spPr>
          <a:xfrm>
            <a:off x="3429000" y="1463040"/>
            <a:ext cx="2560320" cy="4389120"/>
          </a:xfrm>
          <a:prstGeom prst="roundRect">
            <a:avLst>
              <a:gd name="adj" fmla="val 3571"/>
            </a:avLst>
          </a:prstGeom>
          <a:solidFill>
            <a:srgbClr val="1E2433"/>
          </a:solidFill>
          <a:ln w="12700">
            <a:solidFill>
              <a:srgbClr val="2A3449"/>
            </a:solidFill>
            <a:prstDash val="solid"/>
          </a:ln>
        </p:spPr>
      </p:sp>
      <p:sp>
        <p:nvSpPr>
          <p:cNvPr id="12" name="Text 10"/>
          <p:cNvSpPr/>
          <p:nvPr/>
        </p:nvSpPr>
        <p:spPr>
          <a:xfrm>
            <a:off x="3611880" y="1645920"/>
            <a:ext cx="2194560" cy="22860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PHASE 02</a:t>
            </a:r>
            <a:endParaRPr lang="en-US" sz="1000" dirty="0"/>
          </a:p>
        </p:txBody>
      </p:sp>
      <p:sp>
        <p:nvSpPr>
          <p:cNvPr id="13" name="Text 11"/>
          <p:cNvSpPr/>
          <p:nvPr/>
        </p:nvSpPr>
        <p:spPr>
          <a:xfrm>
            <a:off x="3611880" y="1920240"/>
            <a:ext cx="219456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Phase 2: Relational Data Layer &amp; Ingestion APIs</a:t>
            </a:r>
            <a:endParaRPr lang="en-US" sz="1300" dirty="0"/>
          </a:p>
        </p:txBody>
      </p:sp>
      <p:sp>
        <p:nvSpPr>
          <p:cNvPr id="14" name="Text 12"/>
          <p:cNvSpPr/>
          <p:nvPr/>
        </p:nvSpPr>
        <p:spPr>
          <a:xfrm>
            <a:off x="3611880" y="2560320"/>
            <a:ext cx="219456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Duration: 3 Weeks</a:t>
            </a:r>
            <a:endParaRPr lang="en-US" sz="1100" dirty="0"/>
          </a:p>
        </p:txBody>
      </p:sp>
      <p:sp>
        <p:nvSpPr>
          <p:cNvPr id="15" name="Text 13"/>
          <p:cNvSpPr/>
          <p:nvPr/>
        </p:nvSpPr>
        <p:spPr>
          <a:xfrm>
            <a:off x="3611880" y="2926080"/>
            <a:ext cx="2194560" cy="109728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Focus:</a:t>
            </a:r>
            <a:endParaRPr lang="en-US" sz="1050" dirty="0"/>
          </a:p>
          <a:p>
            <a:pPr indent="0" marL="0">
              <a:buNone/>
            </a:pPr>
            <a:r>
              <a:rPr lang="en-US" sz="1050" dirty="0">
                <a:solidFill>
                  <a:srgbClr val="94A3B8"/>
                </a:solidFill>
                <a:latin typeface="Arial" pitchFamily="34" charset="0"/>
                <a:ea typeface="Arial" pitchFamily="34" charset="-122"/>
                <a:cs typeface="Arial" pitchFamily="34" charset="-120"/>
              </a:rPr>
              <a:t>Database schema implementation, HealthBase v4 integration adapter, and CRUD REST APIs</a:t>
            </a:r>
            <a:endParaRPr lang="en-US" sz="1050" dirty="0"/>
          </a:p>
        </p:txBody>
      </p:sp>
      <p:sp>
        <p:nvSpPr>
          <p:cNvPr id="16" name="Text 14"/>
          <p:cNvSpPr/>
          <p:nvPr/>
        </p:nvSpPr>
        <p:spPr>
          <a:xfrm>
            <a:off x="3611880" y="4206240"/>
            <a:ext cx="2194560" cy="3657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Scheduled Tasks: 2</a:t>
            </a:r>
            <a:endParaRPr lang="en-US" sz="1050" dirty="0"/>
          </a:p>
        </p:txBody>
      </p:sp>
      <p:sp>
        <p:nvSpPr>
          <p:cNvPr id="17" name="Shape 15"/>
          <p:cNvSpPr/>
          <p:nvPr/>
        </p:nvSpPr>
        <p:spPr>
          <a:xfrm>
            <a:off x="6126480" y="1463040"/>
            <a:ext cx="2560320" cy="4389120"/>
          </a:xfrm>
          <a:prstGeom prst="roundRect">
            <a:avLst>
              <a:gd name="adj" fmla="val 3571"/>
            </a:avLst>
          </a:prstGeom>
          <a:solidFill>
            <a:srgbClr val="1E2433"/>
          </a:solidFill>
          <a:ln w="12700">
            <a:solidFill>
              <a:srgbClr val="2A3449"/>
            </a:solidFill>
            <a:prstDash val="solid"/>
          </a:ln>
        </p:spPr>
      </p:sp>
      <p:sp>
        <p:nvSpPr>
          <p:cNvPr id="18" name="Text 16"/>
          <p:cNvSpPr/>
          <p:nvPr/>
        </p:nvSpPr>
        <p:spPr>
          <a:xfrm>
            <a:off x="6309360" y="1645920"/>
            <a:ext cx="2194560" cy="22860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PHASE 03</a:t>
            </a:r>
            <a:endParaRPr lang="en-US" sz="1000" dirty="0"/>
          </a:p>
        </p:txBody>
      </p:sp>
      <p:sp>
        <p:nvSpPr>
          <p:cNvPr id="19" name="Text 17"/>
          <p:cNvSpPr/>
          <p:nvPr/>
        </p:nvSpPr>
        <p:spPr>
          <a:xfrm>
            <a:off x="6309360" y="1920240"/>
            <a:ext cx="219456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Phase 3: Core Workflows &amp; AI Intelligence</a:t>
            </a:r>
            <a:endParaRPr lang="en-US" sz="1300" dirty="0"/>
          </a:p>
        </p:txBody>
      </p:sp>
      <p:sp>
        <p:nvSpPr>
          <p:cNvPr id="20" name="Text 18"/>
          <p:cNvSpPr/>
          <p:nvPr/>
        </p:nvSpPr>
        <p:spPr>
          <a:xfrm>
            <a:off x="6309360" y="2560320"/>
            <a:ext cx="219456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Duration: 3 Weeks</a:t>
            </a:r>
            <a:endParaRPr lang="en-US" sz="1100" dirty="0"/>
          </a:p>
        </p:txBody>
      </p:sp>
      <p:sp>
        <p:nvSpPr>
          <p:cNvPr id="21" name="Text 19"/>
          <p:cNvSpPr/>
          <p:nvPr/>
        </p:nvSpPr>
        <p:spPr>
          <a:xfrm>
            <a:off x="6309360" y="2926080"/>
            <a:ext cx="2194560" cy="109728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Focus:</a:t>
            </a:r>
            <a:endParaRPr lang="en-US" sz="1050" dirty="0"/>
          </a:p>
          <a:p>
            <a:pPr indent="0" marL="0">
              <a:buNone/>
            </a:pPr>
            <a:r>
              <a:rPr lang="en-US" sz="1050" dirty="0">
                <a:solidFill>
                  <a:srgbClr val="94A3B8"/>
                </a:solidFill>
                <a:latin typeface="Arial" pitchFamily="34" charset="0"/>
                <a:ea typeface="Arial" pitchFamily="34" charset="-122"/>
                <a:cs typeface="Arial" pitchFamily="34" charset="-120"/>
              </a:rPr>
              <a:t>Automated triage services, process state transitions, and WhatsApp notification integration</a:t>
            </a:r>
            <a:endParaRPr lang="en-US" sz="1050" dirty="0"/>
          </a:p>
        </p:txBody>
      </p:sp>
      <p:sp>
        <p:nvSpPr>
          <p:cNvPr id="22" name="Text 20"/>
          <p:cNvSpPr/>
          <p:nvPr/>
        </p:nvSpPr>
        <p:spPr>
          <a:xfrm>
            <a:off x="6309360" y="4206240"/>
            <a:ext cx="2194560" cy="3657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Scheduled Tasks: 2</a:t>
            </a:r>
            <a:endParaRPr lang="en-US" sz="1050" dirty="0"/>
          </a:p>
        </p:txBody>
      </p:sp>
      <p:sp>
        <p:nvSpPr>
          <p:cNvPr id="23" name="Shape 21"/>
          <p:cNvSpPr/>
          <p:nvPr/>
        </p:nvSpPr>
        <p:spPr>
          <a:xfrm>
            <a:off x="8823960" y="1463040"/>
            <a:ext cx="2560320" cy="4389120"/>
          </a:xfrm>
          <a:prstGeom prst="roundRect">
            <a:avLst>
              <a:gd name="adj" fmla="val 3571"/>
            </a:avLst>
          </a:prstGeom>
          <a:solidFill>
            <a:srgbClr val="1E2433"/>
          </a:solidFill>
          <a:ln w="12700">
            <a:solidFill>
              <a:srgbClr val="2A3449"/>
            </a:solidFill>
            <a:prstDash val="solid"/>
          </a:ln>
        </p:spPr>
      </p:sp>
      <p:sp>
        <p:nvSpPr>
          <p:cNvPr id="24" name="Text 22"/>
          <p:cNvSpPr/>
          <p:nvPr/>
        </p:nvSpPr>
        <p:spPr>
          <a:xfrm>
            <a:off x="9006840" y="1645920"/>
            <a:ext cx="2194560" cy="22860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PHASE 04</a:t>
            </a:r>
            <a:endParaRPr lang="en-US" sz="1000" dirty="0"/>
          </a:p>
        </p:txBody>
      </p:sp>
      <p:sp>
        <p:nvSpPr>
          <p:cNvPr id="25" name="Text 23"/>
          <p:cNvSpPr/>
          <p:nvPr/>
        </p:nvSpPr>
        <p:spPr>
          <a:xfrm>
            <a:off x="9006840" y="1920240"/>
            <a:ext cx="2194560" cy="5486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Phase 4: Frontend UX Portals &amp; Wireframe Build</a:t>
            </a:r>
            <a:endParaRPr lang="en-US" sz="1300" dirty="0"/>
          </a:p>
        </p:txBody>
      </p:sp>
      <p:sp>
        <p:nvSpPr>
          <p:cNvPr id="26" name="Text 24"/>
          <p:cNvSpPr/>
          <p:nvPr/>
        </p:nvSpPr>
        <p:spPr>
          <a:xfrm>
            <a:off x="9006840" y="2560320"/>
            <a:ext cx="2194560" cy="27432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Duration: 2 Weeks</a:t>
            </a:r>
            <a:endParaRPr lang="en-US" sz="1100" dirty="0"/>
          </a:p>
        </p:txBody>
      </p:sp>
      <p:sp>
        <p:nvSpPr>
          <p:cNvPr id="27" name="Text 25"/>
          <p:cNvSpPr/>
          <p:nvPr/>
        </p:nvSpPr>
        <p:spPr>
          <a:xfrm>
            <a:off x="9006840" y="2926080"/>
            <a:ext cx="2194560" cy="109728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Focus:</a:t>
            </a:r>
            <a:endParaRPr lang="en-US" sz="1050" dirty="0"/>
          </a:p>
          <a:p>
            <a:pPr indent="0" marL="0">
              <a:buNone/>
            </a:pPr>
            <a:r>
              <a:rPr lang="en-US" sz="1050" dirty="0">
                <a:solidFill>
                  <a:srgbClr val="94A3B8"/>
                </a:solidFill>
                <a:latin typeface="Arial" pitchFamily="34" charset="0"/>
                <a:ea typeface="Arial" pitchFamily="34" charset="-122"/>
                <a:cs typeface="Arial" pitchFamily="34" charset="-120"/>
              </a:rPr>
              <a:t>Responsive React SPA views, design tokens, and staff copilot dashboard</a:t>
            </a:r>
            <a:endParaRPr lang="en-US" sz="1050" dirty="0"/>
          </a:p>
        </p:txBody>
      </p:sp>
      <p:sp>
        <p:nvSpPr>
          <p:cNvPr id="28" name="Text 26"/>
          <p:cNvSpPr/>
          <p:nvPr/>
        </p:nvSpPr>
        <p:spPr>
          <a:xfrm>
            <a:off x="9006840" y="4206240"/>
            <a:ext cx="2194560" cy="3657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Scheduled Tasks: 1</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RESOURCING</a:t>
            </a:r>
            <a:endParaRPr lang="en-US" sz="1000" dirty="0"/>
          </a:p>
        </p:txBody>
      </p:sp>
      <p:sp>
        <p:nvSpPr>
          <p:cNvPr id="3" name="Text 1"/>
          <p:cNvSpPr/>
          <p:nvPr/>
        </p:nvSpPr>
        <p:spPr>
          <a:xfrm>
            <a:off x="731520" y="594360"/>
            <a:ext cx="91440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Resource Allocation &amp; Delivery Investment</a:t>
            </a:r>
            <a:endParaRPr lang="en-US" sz="2000" dirty="0"/>
          </a:p>
        </p:txBody>
      </p:sp>
      <p:sp>
        <p:nvSpPr>
          <p:cNvPr id="4" name="Shape 2"/>
          <p:cNvSpPr/>
          <p:nvPr/>
        </p:nvSpPr>
        <p:spPr>
          <a:xfrm>
            <a:off x="731520" y="1051560"/>
            <a:ext cx="10698480" cy="0"/>
          </a:xfrm>
          <a:prstGeom prst="line">
            <a:avLst/>
          </a:prstGeom>
          <a:noFill/>
          <a:ln w="12700">
            <a:solidFill>
              <a:srgbClr val="2A3449"/>
            </a:solidFill>
            <a:prstDash val="solid"/>
          </a:ln>
        </p:spPr>
      </p:sp>
      <p:sp>
        <p:nvSpPr>
          <p:cNvPr id="5" name="Shape 3"/>
          <p:cNvSpPr/>
          <p:nvPr/>
        </p:nvSpPr>
        <p:spPr>
          <a:xfrm>
            <a:off x="731520" y="1463040"/>
            <a:ext cx="3291840" cy="1371600"/>
          </a:xfrm>
          <a:prstGeom prst="roundRect">
            <a:avLst>
              <a:gd name="adj" fmla="val 6667"/>
            </a:avLst>
          </a:prstGeom>
          <a:solidFill>
            <a:srgbClr val="1E2433"/>
          </a:solidFill>
          <a:ln w="12700">
            <a:solidFill>
              <a:srgbClr val="2A3449"/>
            </a:solidFill>
            <a:prstDash val="solid"/>
          </a:ln>
        </p:spPr>
      </p:sp>
      <p:sp>
        <p:nvSpPr>
          <p:cNvPr id="6" name="Text 4"/>
          <p:cNvSpPr/>
          <p:nvPr/>
        </p:nvSpPr>
        <p:spPr>
          <a:xfrm>
            <a:off x="1005840" y="1645920"/>
            <a:ext cx="2743200" cy="228600"/>
          </a:xfrm>
          <a:prstGeom prst="rect">
            <a:avLst/>
          </a:prstGeom>
          <a:noFill/>
          <a:ln/>
        </p:spPr>
        <p:txBody>
          <a:bodyPr wrap="square" rtlCol="0" anchor="ctr"/>
          <a:lstStyle/>
          <a:p>
            <a:pPr indent="0" marL="0">
              <a:buNone/>
            </a:pPr>
            <a:r>
              <a:rPr lang="en-US" sz="950" b="1" dirty="0">
                <a:solidFill>
                  <a:srgbClr val="D97706"/>
                </a:solidFill>
                <a:latin typeface="Arial" pitchFamily="34" charset="0"/>
                <a:ea typeface="Arial" pitchFamily="34" charset="-122"/>
                <a:cs typeface="Arial" pitchFamily="34" charset="-120"/>
              </a:rPr>
              <a:t>ESTIMATED TIMELINE</a:t>
            </a:r>
            <a:endParaRPr lang="en-US" sz="950" dirty="0"/>
          </a:p>
        </p:txBody>
      </p:sp>
      <p:sp>
        <p:nvSpPr>
          <p:cNvPr id="7" name="Text 5"/>
          <p:cNvSpPr/>
          <p:nvPr/>
        </p:nvSpPr>
        <p:spPr>
          <a:xfrm>
            <a:off x="1005840" y="1920240"/>
            <a:ext cx="2743200" cy="5486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12 Weeks</a:t>
            </a:r>
            <a:endParaRPr lang="en-US" sz="2400" dirty="0"/>
          </a:p>
        </p:txBody>
      </p:sp>
      <p:sp>
        <p:nvSpPr>
          <p:cNvPr id="8" name="Shape 6"/>
          <p:cNvSpPr/>
          <p:nvPr/>
        </p:nvSpPr>
        <p:spPr>
          <a:xfrm>
            <a:off x="4434840" y="1463040"/>
            <a:ext cx="3291840" cy="1371600"/>
          </a:xfrm>
          <a:prstGeom prst="roundRect">
            <a:avLst>
              <a:gd name="adj" fmla="val 6667"/>
            </a:avLst>
          </a:prstGeom>
          <a:solidFill>
            <a:srgbClr val="1E2433"/>
          </a:solidFill>
          <a:ln w="12700">
            <a:solidFill>
              <a:srgbClr val="2A3449"/>
            </a:solidFill>
            <a:prstDash val="solid"/>
          </a:ln>
        </p:spPr>
      </p:sp>
      <p:sp>
        <p:nvSpPr>
          <p:cNvPr id="9" name="Text 7"/>
          <p:cNvSpPr/>
          <p:nvPr/>
        </p:nvSpPr>
        <p:spPr>
          <a:xfrm>
            <a:off x="4709160" y="1645920"/>
            <a:ext cx="2743200" cy="228600"/>
          </a:xfrm>
          <a:prstGeom prst="rect">
            <a:avLst/>
          </a:prstGeom>
          <a:noFill/>
          <a:ln/>
        </p:spPr>
        <p:txBody>
          <a:bodyPr wrap="square" rtlCol="0" anchor="ctr"/>
          <a:lstStyle/>
          <a:p>
            <a:pPr indent="0" marL="0">
              <a:buNone/>
            </a:pPr>
            <a:r>
              <a:rPr lang="en-US" sz="950" b="1" dirty="0">
                <a:solidFill>
                  <a:srgbClr val="D97706"/>
                </a:solidFill>
                <a:latin typeface="Arial" pitchFamily="34" charset="0"/>
                <a:ea typeface="Arial" pitchFamily="34" charset="-122"/>
                <a:cs typeface="Arial" pitchFamily="34" charset="-120"/>
              </a:rPr>
              <a:t>METHODOLOGY</a:t>
            </a:r>
            <a:endParaRPr lang="en-US" sz="950" dirty="0"/>
          </a:p>
        </p:txBody>
      </p:sp>
      <p:sp>
        <p:nvSpPr>
          <p:cNvPr id="10" name="Text 8"/>
          <p:cNvSpPr/>
          <p:nvPr/>
        </p:nvSpPr>
        <p:spPr>
          <a:xfrm>
            <a:off x="4709160" y="1920240"/>
            <a:ext cx="274320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Agile Sprints</a:t>
            </a:r>
            <a:endParaRPr lang="en-US" sz="2200" dirty="0"/>
          </a:p>
        </p:txBody>
      </p:sp>
      <p:sp>
        <p:nvSpPr>
          <p:cNvPr id="11" name="Shape 9"/>
          <p:cNvSpPr/>
          <p:nvPr/>
        </p:nvSpPr>
        <p:spPr>
          <a:xfrm>
            <a:off x="8138160" y="1463040"/>
            <a:ext cx="3291840" cy="1371600"/>
          </a:xfrm>
          <a:prstGeom prst="roundRect">
            <a:avLst>
              <a:gd name="adj" fmla="val 6667"/>
            </a:avLst>
          </a:prstGeom>
          <a:solidFill>
            <a:srgbClr val="1E2433"/>
          </a:solidFill>
          <a:ln w="12700">
            <a:solidFill>
              <a:srgbClr val="2A3449"/>
            </a:solidFill>
            <a:prstDash val="solid"/>
          </a:ln>
        </p:spPr>
      </p:sp>
      <p:sp>
        <p:nvSpPr>
          <p:cNvPr id="12" name="Text 10"/>
          <p:cNvSpPr/>
          <p:nvPr/>
        </p:nvSpPr>
        <p:spPr>
          <a:xfrm>
            <a:off x="8412480" y="1645920"/>
            <a:ext cx="2743200" cy="228600"/>
          </a:xfrm>
          <a:prstGeom prst="rect">
            <a:avLst/>
          </a:prstGeom>
          <a:noFill/>
          <a:ln/>
        </p:spPr>
        <p:txBody>
          <a:bodyPr wrap="square" rtlCol="0" anchor="ctr"/>
          <a:lstStyle/>
          <a:p>
            <a:pPr indent="0" marL="0">
              <a:buNone/>
            </a:pPr>
            <a:r>
              <a:rPr lang="en-US" sz="950" b="1" dirty="0">
                <a:solidFill>
                  <a:srgbClr val="D97706"/>
                </a:solidFill>
                <a:latin typeface="Arial" pitchFamily="34" charset="0"/>
                <a:ea typeface="Arial" pitchFamily="34" charset="-122"/>
                <a:cs typeface="Arial" pitchFamily="34" charset="-120"/>
              </a:rPr>
              <a:t>INVESTMENT SCOPE</a:t>
            </a:r>
            <a:endParaRPr lang="en-US" sz="950" dirty="0"/>
          </a:p>
        </p:txBody>
      </p:sp>
      <p:sp>
        <p:nvSpPr>
          <p:cNvPr id="13" name="Text 11"/>
          <p:cNvSpPr/>
          <p:nvPr/>
        </p:nvSpPr>
        <p:spPr>
          <a:xfrm>
            <a:off x="8412480" y="1920240"/>
            <a:ext cx="2743200" cy="731520"/>
          </a:xfrm>
          <a:prstGeom prst="rect">
            <a:avLst/>
          </a:prstGeom>
          <a:noFill/>
          <a:ln/>
        </p:spPr>
        <p:txBody>
          <a:bodyPr wrap="square" rtlCol="0" anchor="ctr"/>
          <a:lstStyle/>
          <a:p>
            <a:pPr indent="0" marL="0">
              <a:buNone/>
            </a:pPr>
            <a:r>
              <a:rPr lang="en-US" sz="1300" b="1" dirty="0">
                <a:solidFill>
                  <a:srgbClr val="34D399"/>
                </a:solidFill>
                <a:latin typeface="Arial" pitchFamily="34" charset="0"/>
                <a:ea typeface="Arial" pitchFamily="34" charset="-122"/>
                <a:cs typeface="Arial" pitchFamily="34" charset="-120"/>
              </a:rPr>
              <a:t>$160,000 - $210,000</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3108960"/>
          <a:ext cx="10698480" cy="2743200"/>
        </p:xfrm>
        <a:graphic>
          <a:graphicData uri="http://schemas.openxmlformats.org/drawingml/2006/table">
            <a:tbl>
              <a:tblPr/>
              <a:tblGrid>
                <a:gridCol w="6400800"/>
                <a:gridCol w="4297680"/>
              </a:tblGrid>
              <a:tr h="391886">
                <a:tc>
                  <a:txBody>
                    <a:bodyPr/>
                    <a:lstStyle/>
                    <a:p>
                      <a:pPr indent="0" marL="0">
                        <a:buNone/>
                      </a:pPr>
                      <a:r>
                        <a:rPr lang="en-US" sz="1000" b="1" dirty="0">
                          <a:solidFill>
                            <a:srgbClr val="FFFFFF"/>
                          </a:solidFill>
                        </a:rPr>
                        <a:t>ROLE / DISCIPLINE</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PLANNED EFFORT (WEEKS)</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r>
              <a:tr h="391886">
                <a:tc>
                  <a:txBody>
                    <a:bodyPr/>
                    <a:lstStyle/>
                    <a:p>
                      <a:pPr indent="0" marL="0">
                        <a:buNone/>
                      </a:pPr>
                      <a:r>
                        <a:rPr lang="en-US" sz="1000" b="1" dirty="0">
                          <a:solidFill>
                            <a:srgbClr val="FFFFFF"/>
                          </a:solidFill>
                        </a:rPr>
                        <a:t>Principal Architect</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59E0B"/>
                          </a:solidFill>
                        </a:rPr>
                        <a:t>1 Weeks</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391886">
                <a:tc>
                  <a:txBody>
                    <a:bodyPr/>
                    <a:lstStyle/>
                    <a:p>
                      <a:pPr indent="0" marL="0">
                        <a:buNone/>
                      </a:pPr>
                      <a:r>
                        <a:rPr lang="en-US" sz="1000" b="1" dirty="0">
                          <a:solidFill>
                            <a:srgbClr val="FFFFFF"/>
                          </a:solidFill>
                        </a:rPr>
                        <a:t>Database Engineer</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59E0B"/>
                          </a:solidFill>
                        </a:rPr>
                        <a:t>1.5 Weeks</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391886">
                <a:tc>
                  <a:txBody>
                    <a:bodyPr/>
                    <a:lstStyle/>
                    <a:p>
                      <a:pPr indent="0" marL="0">
                        <a:buNone/>
                      </a:pPr>
                      <a:r>
                        <a:rPr lang="en-US" sz="1000" b="1" dirty="0">
                          <a:solidFill>
                            <a:srgbClr val="FFFFFF"/>
                          </a:solidFill>
                        </a:rPr>
                        <a:t>Integration Engineer</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59E0B"/>
                          </a:solidFill>
                        </a:rPr>
                        <a:t>1.5 Weeks</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391886">
                <a:tc>
                  <a:txBody>
                    <a:bodyPr/>
                    <a:lstStyle/>
                    <a:p>
                      <a:pPr indent="0" marL="0">
                        <a:buNone/>
                      </a:pPr>
                      <a:r>
                        <a:rPr lang="en-US" sz="1000" b="1" dirty="0">
                          <a:solidFill>
                            <a:srgbClr val="FFFFFF"/>
                          </a:solidFill>
                        </a:rPr>
                        <a:t>Backend Engineer</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59E0B"/>
                          </a:solidFill>
                        </a:rPr>
                        <a:t>3 Weeks</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391886">
                <a:tc>
                  <a:txBody>
                    <a:bodyPr/>
                    <a:lstStyle/>
                    <a:p>
                      <a:pPr indent="0" marL="0">
                        <a:buNone/>
                      </a:pPr>
                      <a:r>
                        <a:rPr lang="en-US" sz="1000" b="1" dirty="0">
                          <a:solidFill>
                            <a:srgbClr val="FFFFFF"/>
                          </a:solidFill>
                        </a:rPr>
                        <a:t>Frontend Engineer</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59E0B"/>
                          </a:solidFill>
                        </a:rPr>
                        <a:t>2 Weeks</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391886">
                <a:tc>
                  <a:txBody>
                    <a:bodyPr/>
                    <a:lstStyle/>
                    <a:p>
                      <a:pPr indent="0" marL="0">
                        <a:buNone/>
                      </a:pPr>
                      <a:r>
                        <a:rPr lang="en-US" sz="1000" b="1" dirty="0">
                          <a:solidFill>
                            <a:srgbClr val="FFFFFF"/>
                          </a:solidFill>
                        </a:rPr>
                        <a:t>QA Lead</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59E0B"/>
                          </a:solidFill>
                        </a:rPr>
                        <a:t>1 Weeks</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GOVERNANCE &amp; RISK</a:t>
            </a:r>
            <a:endParaRPr lang="en-US" sz="1000" dirty="0"/>
          </a:p>
        </p:txBody>
      </p:sp>
      <p:sp>
        <p:nvSpPr>
          <p:cNvPr id="3" name="Text 1"/>
          <p:cNvSpPr/>
          <p:nvPr/>
        </p:nvSpPr>
        <p:spPr>
          <a:xfrm>
            <a:off x="731520" y="594360"/>
            <a:ext cx="91440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Risk Register &amp; Mitigation Protocols</a:t>
            </a:r>
            <a:endParaRPr lang="en-US" sz="2000" dirty="0"/>
          </a:p>
        </p:txBody>
      </p:sp>
      <p:sp>
        <p:nvSpPr>
          <p:cNvPr id="4" name="Shape 2"/>
          <p:cNvSpPr/>
          <p:nvPr/>
        </p:nvSpPr>
        <p:spPr>
          <a:xfrm>
            <a:off x="731520" y="1051560"/>
            <a:ext cx="10698480" cy="0"/>
          </a:xfrm>
          <a:prstGeom prst="line">
            <a:avLst/>
          </a:prstGeom>
          <a:noFill/>
          <a:ln w="12700">
            <a:solidFill>
              <a:srgbClr val="2A3449"/>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4389120"/>
        </p:xfrm>
        <a:graphic>
          <a:graphicData uri="http://schemas.openxmlformats.org/drawingml/2006/table">
            <a:tbl>
              <a:tblPr/>
              <a:tblGrid>
                <a:gridCol w="1645920"/>
                <a:gridCol w="2926080"/>
                <a:gridCol w="2926080"/>
                <a:gridCol w="3200400"/>
              </a:tblGrid>
              <a:tr h="877824">
                <a:tc>
                  <a:txBody>
                    <a:bodyPr/>
                    <a:lstStyle/>
                    <a:p>
                      <a:pPr indent="0" marL="0">
                        <a:buNone/>
                      </a:pPr>
                      <a:r>
                        <a:rPr lang="en-US" sz="1000" b="1" dirty="0">
                          <a:solidFill>
                            <a:srgbClr val="FFFFFF"/>
                          </a:solidFill>
                        </a:rPr>
                        <a:t>SEVERITY</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RISK FACTOR</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POTENTIAL IMPACT</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MITIGATION STRATEGY</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r>
              <a:tr h="877824">
                <a:tc>
                  <a:txBody>
                    <a:bodyPr/>
                    <a:lstStyle/>
                    <a:p>
                      <a:pPr indent="0" marL="0">
                        <a:buNone/>
                      </a:pPr>
                      <a:r>
                        <a:rPr lang="en-US" sz="1000" b="1" dirty="0">
                          <a:solidFill>
                            <a:srgbClr val="FBBF24"/>
                          </a:solidFill>
                        </a:rPr>
                        <a:t>MEDIUM</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b="1" dirty="0">
                          <a:solidFill>
                            <a:srgbClr val="FFFFFF"/>
                          </a:solidFill>
                        </a:rPr>
                        <a:t>Establish Security Perimeter &amp; Ingress Architecture</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Potential timeline or technical constraint</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Allocate dedicated senior technical oversight and staging validation</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877824">
                <a:tc>
                  <a:txBody>
                    <a:bodyPr/>
                    <a:lstStyle/>
                    <a:p>
                      <a:pPr indent="0" marL="0">
                        <a:buNone/>
                      </a:pPr>
                      <a:r>
                        <a:rPr lang="en-US" sz="1000" b="1" dirty="0">
                          <a:solidFill>
                            <a:srgbClr val="F87171"/>
                          </a:solidFill>
                        </a:rPr>
                        <a:t>HIGH</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b="1" dirty="0">
                          <a:solidFill>
                            <a:srgbClr val="FFFFFF"/>
                          </a:solidFill>
                        </a:rPr>
                        <a:t>Develop HealthBase v4 Integration Adapter</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Potential timeline or technical constraint</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Allocate dedicated senior technical oversight and staging validation</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877824">
                <a:tc>
                  <a:txBody>
                    <a:bodyPr/>
                    <a:lstStyle/>
                    <a:p>
                      <a:pPr indent="0" marL="0">
                        <a:buNone/>
                      </a:pPr>
                      <a:r>
                        <a:rPr lang="en-US" sz="1000" b="1" dirty="0">
                          <a:solidFill>
                            <a:srgbClr val="FBBF24"/>
                          </a:solidFill>
                        </a:rPr>
                        <a:t>MEDIUM</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b="1" dirty="0">
                          <a:solidFill>
                            <a:srgbClr val="FFFFFF"/>
                          </a:solidFill>
                        </a:rPr>
                        <a:t>Build AI Triage &amp; Appointment Workflow Service</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Potential timeline or technical constraint</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Allocate dedicated senior technical oversight and staging validation</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877824">
                <a:tc>
                  <a:txBody>
                    <a:bodyPr/>
                    <a:lstStyle/>
                    <a:p>
                      <a:pPr indent="0" marL="0">
                        <a:buNone/>
                      </a:pPr>
                      <a:r>
                        <a:rPr lang="en-US" sz="1000" b="1" dirty="0">
                          <a:solidFill>
                            <a:srgbClr val="FBBF24"/>
                          </a:solidFill>
                        </a:rPr>
                        <a:t>MEDIUM</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b="1" dirty="0">
                          <a:solidFill>
                            <a:srgbClr val="FFFFFF"/>
                          </a:solidFill>
                        </a:rPr>
                        <a:t>System Integration &amp; User Acceptance Testing</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Potential timeline or technical constraint</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Allocate dedicated senior technical oversight and staging validation</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GOVERNANCE</a:t>
            </a:r>
            <a:endParaRPr lang="en-US" sz="1000" dirty="0"/>
          </a:p>
        </p:txBody>
      </p:sp>
      <p:sp>
        <p:nvSpPr>
          <p:cNvPr id="3" name="Text 1"/>
          <p:cNvSpPr/>
          <p:nvPr/>
        </p:nvSpPr>
        <p:spPr>
          <a:xfrm>
            <a:off x="731520" y="594360"/>
            <a:ext cx="91440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Governance Sign-offs &amp; Quality Gates</a:t>
            </a:r>
            <a:endParaRPr lang="en-US" sz="2000" dirty="0"/>
          </a:p>
        </p:txBody>
      </p:sp>
      <p:sp>
        <p:nvSpPr>
          <p:cNvPr id="4" name="Shape 2"/>
          <p:cNvSpPr/>
          <p:nvPr/>
        </p:nvSpPr>
        <p:spPr>
          <a:xfrm>
            <a:off x="731520" y="1051560"/>
            <a:ext cx="10698480" cy="0"/>
          </a:xfrm>
          <a:prstGeom prst="line">
            <a:avLst/>
          </a:prstGeom>
          <a:noFill/>
          <a:ln w="12700">
            <a:solidFill>
              <a:srgbClr val="2A3449"/>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4389120"/>
        </p:xfrm>
        <a:graphic>
          <a:graphicData uri="http://schemas.openxmlformats.org/drawingml/2006/table">
            <a:tbl>
              <a:tblPr/>
              <a:tblGrid>
                <a:gridCol w="1828800"/>
                <a:gridCol w="1097280"/>
                <a:gridCol w="1645920"/>
                <a:gridCol w="2011680"/>
                <a:gridCol w="1828800"/>
                <a:gridCol w="2286000"/>
              </a:tblGrid>
              <a:tr h="627017">
                <a:tc>
                  <a:txBody>
                    <a:bodyPr/>
                    <a:lstStyle/>
                    <a:p>
                      <a:pPr indent="0" marL="0">
                        <a:buNone/>
                      </a:pPr>
                      <a:r>
                        <a:rPr lang="en-US" sz="1000" b="1" dirty="0">
                          <a:solidFill>
                            <a:srgbClr val="FFFFFF"/>
                          </a:solidFill>
                        </a:rPr>
                        <a:t>STAGE</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VERSION</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STATUS</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REVIEWER</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ROLE</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rPr>
                        <a:t>NOTES</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solidFill>
                      <a:srgbClr val="1E293B"/>
                    </a:solidFill>
                  </a:tcPr>
                </a:tc>
              </a:tr>
              <a:tr h="627017">
                <a:tc>
                  <a:txBody>
                    <a:bodyPr/>
                    <a:lstStyle/>
                    <a:p>
                      <a:pPr indent="0" marL="0">
                        <a:buNone/>
                      </a:pPr>
                      <a:r>
                        <a:rPr lang="en-US" sz="1000" b="1" dirty="0">
                          <a:solidFill>
                            <a:srgbClr val="FFFFFF"/>
                          </a:solidFill>
                        </a:rPr>
                        <a:t>ARCHITECTURE</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59E0B"/>
                          </a:solidFill>
                        </a:rPr>
                        <a:t>V14</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b="1" dirty="0">
                          <a:solidFill>
                            <a:srgbClr val="34D399"/>
                          </a:solidFill>
                        </a:rPr>
                        <a:t>APPROVED</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FFFFF"/>
                          </a:solidFill>
                        </a:rPr>
                        <a:t>Elena Rostova (Transformation Lead)</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ADMIN</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Approved</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627017">
                <a:tc>
                  <a:txBody>
                    <a:bodyPr/>
                    <a:lstStyle/>
                    <a:p>
                      <a:pPr indent="0" marL="0">
                        <a:buNone/>
                      </a:pPr>
                      <a:r>
                        <a:rPr lang="en-US" sz="1000" b="1" dirty="0">
                          <a:solidFill>
                            <a:srgbClr val="FFFFFF"/>
                          </a:solidFill>
                        </a:rPr>
                        <a:t>SOLUTION</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59E0B"/>
                          </a:solidFill>
                        </a:rPr>
                        <a:t>V1</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b="1" dirty="0">
                          <a:solidFill>
                            <a:srgbClr val="34D399"/>
                          </a:solidFill>
                        </a:rPr>
                        <a:t>APPROVED</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FFFFF"/>
                          </a:solidFill>
                        </a:rPr>
                        <a:t>Marcus Vance (Principal Architect)</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CONSULTANT</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Formally reviewed and approved by lead stakeholder.</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627017">
                <a:tc>
                  <a:txBody>
                    <a:bodyPr/>
                    <a:lstStyle/>
                    <a:p>
                      <a:pPr indent="0" marL="0">
                        <a:buNone/>
                      </a:pPr>
                      <a:r>
                        <a:rPr lang="en-US" sz="1000" b="1" dirty="0">
                          <a:solidFill>
                            <a:srgbClr val="FFFFFF"/>
                          </a:solidFill>
                        </a:rPr>
                        <a:t>GENERAL</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59E0B"/>
                          </a:solidFill>
                        </a:rPr>
                        <a:t>V1</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b="1" dirty="0">
                          <a:solidFill>
                            <a:srgbClr val="60A5FA"/>
                          </a:solidFill>
                        </a:rPr>
                        <a:t>DRAFT</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FFFFF"/>
                          </a:solidFill>
                        </a:rPr>
                        <a:t>Marcus Vance (Principal Architect)</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CONSULTANT</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Approved</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627017">
                <a:tc>
                  <a:txBody>
                    <a:bodyPr/>
                    <a:lstStyle/>
                    <a:p>
                      <a:pPr indent="0" marL="0">
                        <a:buNone/>
                      </a:pPr>
                      <a:r>
                        <a:rPr lang="en-US" sz="1000" b="1" dirty="0">
                          <a:solidFill>
                            <a:srgbClr val="FFFFFF"/>
                          </a:solidFill>
                        </a:rPr>
                        <a:t>GENERAL</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59E0B"/>
                          </a:solidFill>
                        </a:rPr>
                        <a:t>V1</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b="1" dirty="0">
                          <a:solidFill>
                            <a:srgbClr val="60A5FA"/>
                          </a:solidFill>
                        </a:rPr>
                        <a:t>REVIEW</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FFFFF"/>
                          </a:solidFill>
                        </a:rPr>
                        <a:t>Marcus Vance (Principal Architect)</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CONSULTANT</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Approved</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627017">
                <a:tc>
                  <a:txBody>
                    <a:bodyPr/>
                    <a:lstStyle/>
                    <a:p>
                      <a:pPr indent="0" marL="0">
                        <a:buNone/>
                      </a:pPr>
                      <a:r>
                        <a:rPr lang="en-US" sz="1000" b="1" dirty="0">
                          <a:solidFill>
                            <a:srgbClr val="FFFFFF"/>
                          </a:solidFill>
                        </a:rPr>
                        <a:t>GENERAL</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59E0B"/>
                          </a:solidFill>
                        </a:rPr>
                        <a:t>V1</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b="1" dirty="0">
                          <a:solidFill>
                            <a:srgbClr val="34D399"/>
                          </a:solidFill>
                        </a:rPr>
                        <a:t>APPROVED</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FFFFF"/>
                          </a:solidFill>
                        </a:rPr>
                        <a:t>Marcus Vance (Principal Architect)</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CONSULTANT</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Approved</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r h="627017">
                <a:tc>
                  <a:txBody>
                    <a:bodyPr/>
                    <a:lstStyle/>
                    <a:p>
                      <a:pPr indent="0" marL="0">
                        <a:buNone/>
                      </a:pPr>
                      <a:r>
                        <a:rPr lang="en-US" sz="1000" b="1" dirty="0">
                          <a:solidFill>
                            <a:srgbClr val="FFFFFF"/>
                          </a:solidFill>
                        </a:rPr>
                        <a:t>GENERAL</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59E0B"/>
                          </a:solidFill>
                        </a:rPr>
                        <a:t>V1</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b="1" dirty="0">
                          <a:solidFill>
                            <a:srgbClr val="60A5FA"/>
                          </a:solidFill>
                        </a:rPr>
                        <a:t>REVIEW</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1000" dirty="0">
                          <a:solidFill>
                            <a:srgbClr val="FFFFFF"/>
                          </a:solidFill>
                        </a:rPr>
                        <a:t>Marcus Vance (Principal Architect)</a:t>
                      </a:r>
                      <a:endParaRPr lang="en-US" sz="100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CONSULTANT</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c>
                  <a:txBody>
                    <a:bodyPr/>
                    <a:lstStyle/>
                    <a:p>
                      <a:pPr indent="0" marL="0">
                        <a:buNone/>
                      </a:pPr>
                      <a:r>
                        <a:rPr lang="en-US" sz="950" dirty="0">
                          <a:solidFill>
                            <a:srgbClr val="94A3B8"/>
                          </a:solidFill>
                        </a:rPr>
                        <a:t>Approved</a:t>
                      </a:r>
                      <a:endParaRPr lang="en-US" sz="950" dirty="0"/>
                    </a:p>
                  </a:txBody>
                  <a:tcPr marL="91440" marR="91440" marT="45720" marB="45720">
                    <a:lnL w="6350" cap="flat" cmpd="sng" algn="ctr">
                      <a:solidFill>
                        <a:srgbClr val="2A3449"/>
                      </a:solidFill>
                      <a:prstDash val="solid"/>
                      <a:round/>
                      <a:headEnd type="none" w="med" len="med"/>
                      <a:tailEnd type="none" w="med" len="med"/>
                    </a:lnL>
                    <a:lnR w="6350" cap="flat" cmpd="sng" algn="ctr">
                      <a:solidFill>
                        <a:srgbClr val="2A3449"/>
                      </a:solidFill>
                      <a:prstDash val="solid"/>
                      <a:round/>
                      <a:headEnd type="none" w="med" len="med"/>
                      <a:tailEnd type="none" w="med" len="med"/>
                    </a:lnR>
                    <a:lnT w="6350" cap="flat" cmpd="sng" algn="ctr">
                      <a:solidFill>
                        <a:srgbClr val="2A3449"/>
                      </a:solidFill>
                      <a:prstDash val="solid"/>
                      <a:round/>
                      <a:headEnd type="none" w="med" len="med"/>
                      <a:tailEnd type="none" w="med" len="med"/>
                    </a:lnT>
                    <a:lnB w="6350" cap="flat" cmpd="sng" algn="ctr">
                      <a:solidFill>
                        <a:srgbClr val="2A3449"/>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731520" y="365760"/>
            <a:ext cx="7315200" cy="274320"/>
          </a:xfrm>
          <a:prstGeom prst="rect">
            <a:avLst/>
          </a:prstGeom>
          <a:noFill/>
          <a:ln/>
        </p:spPr>
        <p:txBody>
          <a:bodyPr wrap="square" rtlCol="0" anchor="ctr"/>
          <a:lstStyle/>
          <a:p>
            <a:pPr indent="0" marL="0">
              <a:buNone/>
            </a:pPr>
            <a:r>
              <a:rPr lang="en-US" sz="1000" b="1" spc="200" kern="0" dirty="0">
                <a:solidFill>
                  <a:srgbClr val="D97706"/>
                </a:solidFill>
                <a:latin typeface="Arial" pitchFamily="34" charset="0"/>
                <a:ea typeface="Arial" pitchFamily="34" charset="-122"/>
                <a:cs typeface="Arial" pitchFamily="34" charset="-120"/>
              </a:rPr>
              <a:t>IMPACT &amp; REALIZATION</a:t>
            </a:r>
            <a:endParaRPr lang="en-US" sz="1000" dirty="0"/>
          </a:p>
        </p:txBody>
      </p:sp>
      <p:sp>
        <p:nvSpPr>
          <p:cNvPr id="3" name="Text 1"/>
          <p:cNvSpPr/>
          <p:nvPr/>
        </p:nvSpPr>
        <p:spPr>
          <a:xfrm>
            <a:off x="731520" y="594360"/>
            <a:ext cx="9144000" cy="45720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Expected Business Outcomes &amp; Immediate Next Steps</a:t>
            </a:r>
            <a:endParaRPr lang="en-US" sz="2000" dirty="0"/>
          </a:p>
        </p:txBody>
      </p:sp>
      <p:sp>
        <p:nvSpPr>
          <p:cNvPr id="4" name="Shape 2"/>
          <p:cNvSpPr/>
          <p:nvPr/>
        </p:nvSpPr>
        <p:spPr>
          <a:xfrm>
            <a:off x="731520" y="1051560"/>
            <a:ext cx="10698480" cy="0"/>
          </a:xfrm>
          <a:prstGeom prst="line">
            <a:avLst/>
          </a:prstGeom>
          <a:noFill/>
          <a:ln w="12700">
            <a:solidFill>
              <a:srgbClr val="2A3449"/>
            </a:solidFill>
            <a:prstDash val="solid"/>
          </a:ln>
        </p:spPr>
      </p:sp>
      <p:sp>
        <p:nvSpPr>
          <p:cNvPr id="5" name="Shape 3"/>
          <p:cNvSpPr/>
          <p:nvPr/>
        </p:nvSpPr>
        <p:spPr>
          <a:xfrm>
            <a:off x="731520" y="1463040"/>
            <a:ext cx="5120640" cy="4572000"/>
          </a:xfrm>
          <a:prstGeom prst="roundRect">
            <a:avLst>
              <a:gd name="adj" fmla="val 2000"/>
            </a:avLst>
          </a:prstGeom>
          <a:solidFill>
            <a:srgbClr val="1E2433"/>
          </a:solidFill>
          <a:ln w="12700">
            <a:solidFill>
              <a:srgbClr val="2A3449"/>
            </a:solidFill>
            <a:prstDash val="solid"/>
          </a:ln>
        </p:spPr>
      </p:sp>
      <p:sp>
        <p:nvSpPr>
          <p:cNvPr id="6" name="Text 4"/>
          <p:cNvSpPr/>
          <p:nvPr/>
        </p:nvSpPr>
        <p:spPr>
          <a:xfrm>
            <a:off x="1005840" y="1737360"/>
            <a:ext cx="45720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CORE BUSINESS OUTCOMES</a:t>
            </a:r>
            <a:endParaRPr lang="en-US" sz="1000" dirty="0"/>
          </a:p>
        </p:txBody>
      </p:sp>
      <p:sp>
        <p:nvSpPr>
          <p:cNvPr id="7" name="Text 5"/>
          <p:cNvSpPr/>
          <p:nvPr/>
        </p:nvSpPr>
        <p:spPr>
          <a:xfrm>
            <a:off x="1005840" y="2103120"/>
            <a:ext cx="4572000" cy="274320"/>
          </a:xfrm>
          <a:prstGeom prst="rect">
            <a:avLst/>
          </a:prstGeom>
          <a:noFill/>
          <a:ln/>
        </p:spPr>
        <p:txBody>
          <a:bodyPr wrap="square" rtlCol="0" anchor="ctr"/>
          <a:lstStyle/>
          <a:p>
            <a:pPr indent="0" marL="0">
              <a:buNone/>
            </a:pPr>
            <a:r>
              <a:rPr lang="en-US" sz="1200" b="1" dirty="0">
                <a:solidFill>
                  <a:srgbClr val="34D399"/>
                </a:solidFill>
                <a:latin typeface="Arial" pitchFamily="34" charset="0"/>
                <a:ea typeface="Arial" pitchFamily="34" charset="-122"/>
                <a:cs typeface="Arial" pitchFamily="34" charset="-120"/>
              </a:rPr>
              <a:t>✓  Operational Efficiency</a:t>
            </a:r>
            <a:endParaRPr lang="en-US" sz="1200" dirty="0"/>
          </a:p>
        </p:txBody>
      </p:sp>
      <p:sp>
        <p:nvSpPr>
          <p:cNvPr id="8" name="Text 6"/>
          <p:cNvSpPr/>
          <p:nvPr/>
        </p:nvSpPr>
        <p:spPr>
          <a:xfrm>
            <a:off x="1005840" y="2423160"/>
            <a:ext cx="4572000" cy="64008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Targets a 60% reduction in manual scheduling work, improved booking accuracy, and enhanced patient access to healthcare services through real-time availability visibility.</a:t>
            </a:r>
            <a:endParaRPr lang="en-US" sz="1100" dirty="0"/>
          </a:p>
        </p:txBody>
      </p:sp>
      <p:sp>
        <p:nvSpPr>
          <p:cNvPr id="9" name="Text 7"/>
          <p:cNvSpPr/>
          <p:nvPr/>
        </p:nvSpPr>
        <p:spPr>
          <a:xfrm>
            <a:off x="1005840" y="3291840"/>
            <a:ext cx="4572000" cy="274320"/>
          </a:xfrm>
          <a:prstGeom prst="rect">
            <a:avLst/>
          </a:prstGeom>
          <a:noFill/>
          <a:ln/>
        </p:spPr>
        <p:txBody>
          <a:bodyPr wrap="square" rtlCol="0" anchor="ctr"/>
          <a:lstStyle/>
          <a:p>
            <a:pPr indent="0" marL="0">
              <a:buNone/>
            </a:pPr>
            <a:r>
              <a:rPr lang="en-US" sz="1200" b="1" dirty="0">
                <a:solidFill>
                  <a:srgbClr val="34D399"/>
                </a:solidFill>
                <a:latin typeface="Arial" pitchFamily="34" charset="0"/>
                <a:ea typeface="Arial" pitchFamily="34" charset="-122"/>
                <a:cs typeface="Arial" pitchFamily="34" charset="-120"/>
              </a:rPr>
              <a:t>✓  System Traceability</a:t>
            </a:r>
            <a:endParaRPr lang="en-US" sz="1200" dirty="0"/>
          </a:p>
        </p:txBody>
      </p:sp>
      <p:sp>
        <p:nvSpPr>
          <p:cNvPr id="10" name="Text 8"/>
          <p:cNvSpPr/>
          <p:nvPr/>
        </p:nvSpPr>
        <p:spPr>
          <a:xfrm>
            <a:off x="1005840" y="3611880"/>
            <a:ext cx="4572000" cy="64008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End-to-end data provenance and immutable governance sign-offs across all lifecycle stages</a:t>
            </a:r>
            <a:endParaRPr lang="en-US" sz="1100" dirty="0"/>
          </a:p>
        </p:txBody>
      </p:sp>
      <p:sp>
        <p:nvSpPr>
          <p:cNvPr id="11" name="Text 9"/>
          <p:cNvSpPr/>
          <p:nvPr/>
        </p:nvSpPr>
        <p:spPr>
          <a:xfrm>
            <a:off x="1005840" y="4480560"/>
            <a:ext cx="4572000" cy="274320"/>
          </a:xfrm>
          <a:prstGeom prst="rect">
            <a:avLst/>
          </a:prstGeom>
          <a:noFill/>
          <a:ln/>
        </p:spPr>
        <p:txBody>
          <a:bodyPr wrap="square" rtlCol="0" anchor="ctr"/>
          <a:lstStyle/>
          <a:p>
            <a:pPr indent="0" marL="0">
              <a:buNone/>
            </a:pPr>
            <a:r>
              <a:rPr lang="en-US" sz="1200" b="1" dirty="0">
                <a:solidFill>
                  <a:srgbClr val="34D399"/>
                </a:solidFill>
                <a:latin typeface="Arial" pitchFamily="34" charset="0"/>
                <a:ea typeface="Arial" pitchFamily="34" charset="-122"/>
                <a:cs typeface="Arial" pitchFamily="34" charset="-120"/>
              </a:rPr>
              <a:t>✓  Architecture Modernization</a:t>
            </a:r>
            <a:endParaRPr lang="en-US" sz="1200" dirty="0"/>
          </a:p>
        </p:txBody>
      </p:sp>
      <p:sp>
        <p:nvSpPr>
          <p:cNvPr id="12" name="Text 10"/>
          <p:cNvSpPr/>
          <p:nvPr/>
        </p:nvSpPr>
        <p:spPr>
          <a:xfrm>
            <a:off x="1005840" y="4800600"/>
            <a:ext cx="4572000" cy="64008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Decoupled, scalable services backed by strict API contracts and relational integrity</a:t>
            </a:r>
            <a:endParaRPr lang="en-US" sz="1100" dirty="0"/>
          </a:p>
        </p:txBody>
      </p:sp>
      <p:sp>
        <p:nvSpPr>
          <p:cNvPr id="13" name="Shape 11"/>
          <p:cNvSpPr/>
          <p:nvPr/>
        </p:nvSpPr>
        <p:spPr>
          <a:xfrm>
            <a:off x="6309360" y="1463040"/>
            <a:ext cx="5120640" cy="4572000"/>
          </a:xfrm>
          <a:prstGeom prst="roundRect">
            <a:avLst>
              <a:gd name="adj" fmla="val 2000"/>
            </a:avLst>
          </a:prstGeom>
          <a:solidFill>
            <a:srgbClr val="1E2433"/>
          </a:solidFill>
          <a:ln w="12700">
            <a:solidFill>
              <a:srgbClr val="2A3449"/>
            </a:solidFill>
            <a:prstDash val="solid"/>
          </a:ln>
        </p:spPr>
      </p:sp>
      <p:sp>
        <p:nvSpPr>
          <p:cNvPr id="14" name="Text 12"/>
          <p:cNvSpPr/>
          <p:nvPr/>
        </p:nvSpPr>
        <p:spPr>
          <a:xfrm>
            <a:off x="6583680" y="1737360"/>
            <a:ext cx="45720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RECOMMENDED IMMEDIATE ACTIONS</a:t>
            </a:r>
            <a:endParaRPr lang="en-US" sz="1000" dirty="0"/>
          </a:p>
        </p:txBody>
      </p:sp>
      <p:sp>
        <p:nvSpPr>
          <p:cNvPr id="15" name="Text 13"/>
          <p:cNvSpPr/>
          <p:nvPr/>
        </p:nvSpPr>
        <p:spPr>
          <a:xfrm>
            <a:off x="6583680" y="2103120"/>
            <a:ext cx="4572000" cy="2743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1. Executive Sign-off Finalization</a:t>
            </a:r>
            <a:endParaRPr lang="en-US" sz="1150" dirty="0"/>
          </a:p>
        </p:txBody>
      </p:sp>
      <p:sp>
        <p:nvSpPr>
          <p:cNvPr id="16" name="Text 14"/>
          <p:cNvSpPr/>
          <p:nvPr/>
        </p:nvSpPr>
        <p:spPr>
          <a:xfrm>
            <a:off x="6583680" y="2377440"/>
            <a:ext cx="4572000" cy="59436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Secure formal review sign-offs across Architecture and Database stages</a:t>
            </a:r>
            <a:endParaRPr lang="en-US" sz="1050" dirty="0"/>
          </a:p>
        </p:txBody>
      </p:sp>
      <p:sp>
        <p:nvSpPr>
          <p:cNvPr id="17" name="Text 15"/>
          <p:cNvSpPr/>
          <p:nvPr/>
        </p:nvSpPr>
        <p:spPr>
          <a:xfrm>
            <a:off x="6583680" y="3063240"/>
            <a:ext cx="4572000" cy="2743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2. Sprint 1 Backlog Grooming</a:t>
            </a:r>
            <a:endParaRPr lang="en-US" sz="1150" dirty="0"/>
          </a:p>
        </p:txBody>
      </p:sp>
      <p:sp>
        <p:nvSpPr>
          <p:cNvPr id="18" name="Text 16"/>
          <p:cNvSpPr/>
          <p:nvPr/>
        </p:nvSpPr>
        <p:spPr>
          <a:xfrm>
            <a:off x="6583680" y="3337560"/>
            <a:ext cx="4572000" cy="59436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Break down Phase 1 tasks into granular story-point estimates</a:t>
            </a:r>
            <a:endParaRPr lang="en-US" sz="1050" dirty="0"/>
          </a:p>
        </p:txBody>
      </p:sp>
      <p:sp>
        <p:nvSpPr>
          <p:cNvPr id="19" name="Text 17"/>
          <p:cNvSpPr/>
          <p:nvPr/>
        </p:nvSpPr>
        <p:spPr>
          <a:xfrm>
            <a:off x="6583680" y="4023360"/>
            <a:ext cx="4572000" cy="2743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3. CI/CD &amp; Cloud Infrastructure Setup</a:t>
            </a:r>
            <a:endParaRPr lang="en-US" sz="1150" dirty="0"/>
          </a:p>
        </p:txBody>
      </p:sp>
      <p:sp>
        <p:nvSpPr>
          <p:cNvPr id="20" name="Text 18"/>
          <p:cNvSpPr/>
          <p:nvPr/>
        </p:nvSpPr>
        <p:spPr>
          <a:xfrm>
            <a:off x="6583680" y="4297680"/>
            <a:ext cx="4572000" cy="59436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Provision staging environments, secrets manager, and database clusters</a:t>
            </a:r>
            <a:endParaRPr lang="en-US" sz="1050" dirty="0"/>
          </a:p>
        </p:txBody>
      </p:sp>
      <p:sp>
        <p:nvSpPr>
          <p:cNvPr id="21" name="Text 19"/>
          <p:cNvSpPr/>
          <p:nvPr/>
        </p:nvSpPr>
        <p:spPr>
          <a:xfrm>
            <a:off x="6583680" y="4983480"/>
            <a:ext cx="4572000" cy="27432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4. Stakeholder Pilot Alignment</a:t>
            </a:r>
            <a:endParaRPr lang="en-US" sz="1150" dirty="0"/>
          </a:p>
        </p:txBody>
      </p:sp>
      <p:sp>
        <p:nvSpPr>
          <p:cNvPr id="22" name="Text 20"/>
          <p:cNvSpPr/>
          <p:nvPr/>
        </p:nvSpPr>
        <p:spPr>
          <a:xfrm>
            <a:off x="6583680" y="5257800"/>
            <a:ext cx="4572000" cy="59436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Establish weekly cadence for pilot review and milestone feedback</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2026-09-20T15:01:39Z</dcterms:created>
  <dcterms:modified xsi:type="dcterms:W3CDTF">2026-09-20T15:01:39Z</dcterms:modified>
</cp:coreProperties>
</file>